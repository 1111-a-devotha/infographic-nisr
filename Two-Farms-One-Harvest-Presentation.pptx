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1a7047f-f817-6c0b-3e00-ab74795d4d4b}">
          <p14:sldIdLst>
            <p14:sldId id="256"/>
            <p14:sldId id="257"/>
            <p14:sldId id="258"/>
          </p14:sldIdLst>
        </p14:section>
        <p14:section name="Findings" id="{1280e028-5a4e-e17b-e4d0-1b43cb7ff4b8}">
          <p14:sldIdLst>
            <p14:sldId id="259"/>
            <p14:sldId id="260"/>
            <p14:sldId id="261"/>
            <p14:sldId id="262"/>
            <p14:sldId id="263"/>
          </p14:sldIdLst>
        </p14:section>
        <p14:section name="Our infographics" id="{332d1795-058a-ed42-996e-38c5019f30fb}">
          <p14:sldIdLst>
            <p14:sldId id="264"/>
            <p14:sldId id="265"/>
            <p14:sldId id="266"/>
          </p14:sldIdLst>
        </p14:section>
        <p14:section name="Close" id="{651da9dd-606d-927c-7d5c-85aaefc83bd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6665E"/>
                </a:solidFill>
                <a:latin typeface="+mn-lt"/>
              </a:defRPr>
            </a:pPr>
            <a:r>
              <a:rPr sz="1200" b="0" i="0" u="none" strike="noStrike">
                <a:solidFill>
                  <a:srgbClr val="56665E"/>
                </a:solidFill>
                <a:latin typeface="+mn-lt"/>
              </a:rPr>
              <a:t>Share of farmers using each input, Season A 2025 (%)</a:t>
            </a:r>
          </a:p>
        </c:rich>
      </c:tx>
      <c:layout/>
      <c:overlay val="0"/>
    </c:title>
    <c:autoTitleDeleted val="0"/>
    <c:plotArea>
      <c:layout/>
      <c:barChart>
        <c:barDir val="bar"/>
        <c:grouping val="clustered"/>
        <c:varyColors val="0"/>
        <c:ser>
          <c:idx val="0"/>
          <c:order val="0"/>
          <c:tx>
            <c:strRef>
              <c:f>Sheet1!$B$1</c:f>
              <c:strCache>
                <c:ptCount val="1"/>
                <c:pt idx="0">
                  <c:v>Small-scale farmers</c:v>
                </c:pt>
              </c:strCache>
            </c:strRef>
          </c:tx>
          <c:spPr>
            <a:solidFill>
              <a:srgbClr val="E0A126"/>
            </a:solidFill>
            <a:effectLst/>
          </c:spPr>
          <c:invertIfNegative val="0"/>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Sheet1!$A$2:$A$5</c:f>
              <c:multiLvlStrCache>
                <c:ptCount val="4"/>
                <c:lvl>
                  <c:pt idx="0">
                    <c:v>Organic fertilizer</c:v>
                  </c:pt>
                  <c:pt idx="1">
                    <c:v>Inorganic fertilizer</c:v>
                  </c:pt>
                  <c:pt idx="2">
                    <c:v>Pesticides</c:v>
                  </c:pt>
                  <c:pt idx="3">
                    <c:v>Improved seeds</c:v>
                  </c:pt>
                </c:lvl>
              </c:multiLvlStrCache>
            </c:multiLvlStrRef>
          </c:cat>
          <c:val>
            <c:numRef>
              <c:f>Sheet1!$B$2:$B$5</c:f>
              <c:numCache>
                <c:formatCode>General</c:formatCode>
                <c:ptCount val="4"/>
                <c:pt idx="0">
                  <c:v>88.3</c:v>
                </c:pt>
                <c:pt idx="1">
                  <c:v>62.4</c:v>
                </c:pt>
                <c:pt idx="2">
                  <c:v>40.6</c:v>
                </c:pt>
                <c:pt idx="3">
                  <c:v>35.9</c:v>
                </c:pt>
              </c:numCache>
            </c:numRef>
          </c:val>
        </c:ser>
        <c:ser>
          <c:idx val="1"/>
          <c:order val="1"/>
          <c:tx>
            <c:strRef>
              <c:f>Sheet1!$C$1</c:f>
              <c:strCache>
                <c:ptCount val="1"/>
                <c:pt idx="0">
                  <c:v>Large-scale farmers</c:v>
                </c:pt>
              </c:strCache>
            </c:strRef>
          </c:tx>
          <c:spPr>
            <a:solidFill>
              <a:srgbClr val="1F5A43"/>
            </a:solidFill>
            <a:effectLst/>
          </c:spPr>
          <c:invertIfNegative val="0"/>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Sheet1!$A$2:$A$5</c:f>
              <c:multiLvlStrCache>
                <c:ptCount val="4"/>
                <c:lvl>
                  <c:pt idx="0">
                    <c:v>Organic fertilizer</c:v>
                  </c:pt>
                  <c:pt idx="1">
                    <c:v>Inorganic fertilizer</c:v>
                  </c:pt>
                  <c:pt idx="2">
                    <c:v>Pesticides</c:v>
                  </c:pt>
                  <c:pt idx="3">
                    <c:v>Improved seeds</c:v>
                  </c:pt>
                </c:lvl>
              </c:multiLvlStrCache>
            </c:multiLvlStrRef>
          </c:cat>
          <c:val>
            <c:numRef>
              <c:f>Sheet1!$C$2:$C$5</c:f>
              <c:numCache>
                <c:formatCode>General</c:formatCode>
                <c:ptCount val="4"/>
                <c:pt idx="0">
                  <c:v>77.5</c:v>
                </c:pt>
                <c:pt idx="1">
                  <c:v>91.9</c:v>
                </c:pt>
                <c:pt idx="2">
                  <c:v>86.9</c:v>
                </c:pt>
                <c:pt idx="3">
                  <c:v>85.4</c:v>
                </c:pt>
              </c:numCache>
            </c:numRef>
          </c:val>
        </c:ser>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E403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C9D3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6665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40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6665E"/>
                </a:solidFill>
                <a:latin typeface="+mn-lt"/>
              </a:defRPr>
            </a:pPr>
            <a:r>
              <a:rPr sz="1200" b="0" i="0" u="none" strike="noStrike">
                <a:solidFill>
                  <a:srgbClr val="56665E"/>
                </a:solidFill>
                <a:latin typeface="+mn-lt"/>
              </a:rPr>
              <a:t>Average yield, tonnes per hectare</a:t>
            </a:r>
          </a:p>
        </c:rich>
      </c:tx>
      <c:layout/>
      <c:overlay val="0"/>
    </c:title>
    <c:autoTitleDeleted val="0"/>
    <c:plotArea>
      <c:layout/>
      <c:barChart>
        <c:barDir val="col"/>
        <c:grouping val="clustered"/>
        <c:varyColors val="0"/>
        <c:ser>
          <c:idx val="0"/>
          <c:order val="0"/>
          <c:tx>
            <c:strRef>
              <c:f>Sheet1!$B$1</c:f>
              <c:strCache>
                <c:ptCount val="1"/>
                <c:pt idx="0">
                  <c:v>Small-scale farmers</c:v>
                </c:pt>
              </c:strCache>
            </c:strRef>
          </c:tx>
          <c:spPr>
            <a:solidFill>
              <a:srgbClr val="E0A126"/>
            </a:solidFill>
            <a:effectLst/>
          </c:spPr>
          <c:invertIfNegative val="0"/>
          <c:dLbls>
            <c:numFmt formatCode="0.0"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Sheet1!$A$2:$A$3</c:f>
              <c:multiLvlStrCache>
                <c:ptCount val="2"/>
                <c:lvl>
                  <c:pt idx="0">
                    <c:v>Maize (2025)</c:v>
                  </c:pt>
                  <c:pt idx="1">
                    <c:v>Irish potato (Season B)</c:v>
                  </c:pt>
                </c:lvl>
              </c:multiLvlStrCache>
            </c:multiLvlStrRef>
          </c:cat>
          <c:val>
            <c:numRef>
              <c:f>Sheet1!$B$2:$B$3</c:f>
              <c:numCache>
                <c:formatCode>General</c:formatCode>
                <c:ptCount val="2"/>
                <c:pt idx="0">
                  <c:v>1.2</c:v>
                </c:pt>
                <c:pt idx="1">
                  <c:v>6.8</c:v>
                </c:pt>
              </c:numCache>
            </c:numRef>
          </c:val>
        </c:ser>
        <c:ser>
          <c:idx val="1"/>
          <c:order val="1"/>
          <c:tx>
            <c:strRef>
              <c:f>Sheet1!$C$1</c:f>
              <c:strCache>
                <c:ptCount val="1"/>
                <c:pt idx="0">
                  <c:v>Large-scale farmers</c:v>
                </c:pt>
              </c:strCache>
            </c:strRef>
          </c:tx>
          <c:spPr>
            <a:solidFill>
              <a:srgbClr val="1F5A43"/>
            </a:solidFill>
            <a:effectLst/>
          </c:spPr>
          <c:invertIfNegative val="0"/>
          <c:dLbls>
            <c:numFmt formatCode="0.0"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Sheet1!$A$2:$A$3</c:f>
              <c:multiLvlStrCache>
                <c:ptCount val="2"/>
                <c:lvl>
                  <c:pt idx="0">
                    <c:v>Maize (2025)</c:v>
                  </c:pt>
                  <c:pt idx="1">
                    <c:v>Irish potato (Season B)</c:v>
                  </c:pt>
                </c:lvl>
              </c:multiLvlStrCache>
            </c:multiLvlStrRef>
          </c:cat>
          <c:val>
            <c:numRef>
              <c:f>Sheet1!$C$2:$C$3</c:f>
              <c:numCache>
                <c:formatCode>General</c:formatCode>
                <c:ptCount val="2"/>
                <c:pt idx="0">
                  <c:v>4.2</c:v>
                </c:pt>
                <c:pt idx="1">
                  <c:v>14.2</c:v>
                </c:pt>
              </c:numCache>
            </c:numRef>
          </c:val>
        </c:ser>
        <c:dLbls>
          <c:numFmt formatCode="0.0"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4038"/>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C9D3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65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40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6665E"/>
                </a:solidFill>
                <a:latin typeface="+mn-lt"/>
              </a:defRPr>
            </a:pPr>
            <a:r>
              <a:rPr sz="1200" b="0" i="0" u="none" strike="noStrike">
                <a:solidFill>
                  <a:srgbClr val="56665E"/>
                </a:solidFill>
                <a:latin typeface="+mn-lt"/>
              </a:rPr>
              <a:t>Share of all farmers, 2025 (%)</a:t>
            </a:r>
          </a:p>
        </c:rich>
      </c:tx>
      <c:layout/>
      <c:overlay val="0"/>
    </c:title>
    <c:autoTitleDeleted val="0"/>
    <c:plotArea>
      <c:layout/>
      <c:barChart>
        <c:barDir val="col"/>
        <c:grouping val="clustered"/>
        <c:varyColors val="0"/>
        <c:ser>
          <c:idx val="0"/>
          <c:order val="0"/>
          <c:tx>
            <c:strRef>
              <c:f>Sheet1!$B$1</c:f>
              <c:strCache>
                <c:ptCount val="1"/>
                <c:pt idx="0">
                  <c:v>Improved seeds</c:v>
                </c:pt>
              </c:strCache>
            </c:strRef>
          </c:tx>
          <c:spPr>
            <a:solidFill>
              <a:srgbClr val="1F5A43"/>
            </a:solidFill>
            <a:effectLst/>
          </c:spPr>
          <c:invertIfNegative val="0"/>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Season A</c:v>
                  </c:pt>
                  <c:pt idx="1">
                    <c:v>Season B</c:v>
                  </c:pt>
                  <c:pt idx="2">
                    <c:v>Season C</c:v>
                  </c:pt>
                </c:lvl>
              </c:multiLvlStrCache>
            </c:multiLvlStrRef>
          </c:cat>
          <c:val>
            <c:numRef>
              <c:f>Sheet1!$B$2:$B$4</c:f>
              <c:numCache>
                <c:formatCode>General</c:formatCode>
                <c:ptCount val="3"/>
                <c:pt idx="0">
                  <c:v>37.3</c:v>
                </c:pt>
                <c:pt idx="1">
                  <c:v>18</c:v>
                </c:pt>
                <c:pt idx="2">
                  <c:v>18.9</c:v>
                </c:pt>
              </c:numCache>
            </c:numRef>
          </c:val>
        </c:ser>
        <c:ser>
          <c:idx val="1"/>
          <c:order val="1"/>
          <c:tx>
            <c:strRef>
              <c:f>Sheet1!$C$1</c:f>
              <c:strCache>
                <c:ptCount val="1"/>
                <c:pt idx="0">
                  <c:v>Pesticides</c:v>
                </c:pt>
              </c:strCache>
            </c:strRef>
          </c:tx>
          <c:spPr>
            <a:solidFill>
              <a:srgbClr val="A2401F"/>
            </a:solidFill>
            <a:effectLst/>
          </c:spPr>
          <c:invertIfNegative val="0"/>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Season A</c:v>
                  </c:pt>
                  <c:pt idx="1">
                    <c:v>Season B</c:v>
                  </c:pt>
                  <c:pt idx="2">
                    <c:v>Season C</c:v>
                  </c:pt>
                </c:lvl>
              </c:multiLvlStrCache>
            </c:multiLvlStrRef>
          </c:cat>
          <c:val>
            <c:numRef>
              <c:f>Sheet1!$C$2:$C$4</c:f>
              <c:numCache>
                <c:formatCode>General</c:formatCode>
                <c:ptCount val="3"/>
                <c:pt idx="0">
                  <c:v>41.9</c:v>
                </c:pt>
                <c:pt idx="1">
                  <c:v>36.6</c:v>
                </c:pt>
                <c:pt idx="2">
                  <c:v>67</c:v>
                </c:pt>
              </c:numCache>
            </c:numRef>
          </c:val>
        </c:ser>
        <c:dLbls>
          <c:numFmt formatCode="0.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4038"/>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C9D3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65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403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0:30
Good morning. We are Team Devotha-Kevine from INES-Ruhengeri. Our infographic tells one story from the Seasonal Agricultural Survey 2025: small-scale and large-scale farmers work the same hills, but with very different tools, and they get very different harvests.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0:45
Agriculture uses about 60 percent of Rwanda's land: 1.423 million of 2.376 million hectares in Season B. Most of that land is farmed by smallholders. So the question we asked the data was simple: where exactly is the gap between small and large farms, and what does it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0:45
Every figure comes from the NISR Seasonal Agricultural Survey Annual Report 2025, covering the 2024/2025 agricultural year and its three seasons. The survey covered 1,200 segments and about 380 large-scale farmers each season. We checked each number against the official report and labelled every chart with its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1:00
In Season A, 85.4 percent of large-scale farmers planted improved seed, against 35.9 percent of smallholders. The same pattern holds for pesticides and inorganic fertilizer. Large-scale farmers are more than twice as likely to use improved seed and pesticides. In Season B the seed gap is even wider: 72.1 against 16.7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0:45
But one input runs the other way. Smallholders lead on organic fertilizer: 88.3 percent against 77.5 in Season A, and 81.2 against 63.8 in Season B. This matters for the story. Smallholders are not doing less. They work hard with what they have. The gap is about access to purchased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1:00
And the harvest differs too. Small-scale maize farmers harvested an average of 1.2 tonnes per hectare; large-scale farmers 4.2. That is 3.5 times more from the same area. For Irish potato in Season B it is 6.8 against 14.2 tonnes, about twice as much. We show differences here, not causes: the report does not prove that inputs alone explain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0:45
Input use also changes across the year. Improved seed use falls from 37.3 percent of farmers in Season A to 18 percent in Season B. Pesticide use jumps to 67 percent in Season C, the short season in swamps and the volcanic zone, mainly for potatoes and vegetables.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0:45
Production in 2025 was mixed. Cassava reached 852,541 tonnes in Season B, up 8.8 percent. Irish potato grew in every season, including 17 percent in Season C. Maize fell 5.3 percent in Season A, to 481,246 tonnes. The four leading maize districts are all in the Eastern Province: Nyagatare, Gatsibo, Kirehe and Kayonza.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0:45
We built two versions of the same story. The static poster comes in Kinyarwanda, English and French, and carries a QR code to the interactive version. The dynamic page lets anyone switch seasons, compare crops and explore districts.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3:00
Let us show you. [Switch to the browser.] First we switch the page to Kinyarwanda. Then the input gap: Season A to Season B. Then the farm calculator: a half-hectare maize farm. Then the district map. Finally, we ask the AI assistant a question in Kinyarwanda, and one it should refuse, to show it only answers from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about 0:45
Our innovations all serve one goal: making official statistics usable by people who are not statisticians. Three languages, a calculator that turns averages into one farm's harvest, a map, a season wheel, narration, and an AI assistant limited to the report's own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about 0:30
Our message: smallholders already feed their soil. Getting improved seed and fertilizer into their hands is where the biggest gap in the 2025 data lies.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85216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017520"/>
            <a:ext cx="585216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Team Devotha-Kevine, INES-Ruhengeri</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852160" cy="1737360"/>
          </a:xfrm>
          <a:prstGeom prst="rect">
            <a:avLst/>
          </a:prstGeom>
          <a:noFill/>
          <a:ln/>
        </p:spPr>
        <p:txBody>
          <a:bodyPr wrap="square" lIns="0" tIns="0" rIns="0" bIns="0" rtlCol="0" anchor="b"/>
          <a:lstStyle/>
          <a:p>
            <a:pPr algn="l" indent="0" marL="0">
              <a:buNone/>
            </a:pPr>
            <a:r>
              <a:rPr lang="en-US" sz="4800" b="1" dirty="0">
                <a:solidFill>
                  <a:schemeClr val="bg1"/>
                </a:solidFill>
              </a:rPr>
              <a:t>Two farms,</a:t>
            </a:r>
            <a:endParaRPr lang="en-US" sz="4800" dirty="0"/>
          </a:p>
          <a:p>
            <a:pPr algn="l" indent="0" marL="0">
              <a:buNone/>
            </a:pPr>
            <a:r>
              <a:rPr lang="en-US" sz="4800" b="1" dirty="0">
                <a:solidFill>
                  <a:schemeClr val="bg1"/>
                </a:solidFill>
              </a:rPr>
              <a:t>one harvest</a:t>
            </a:r>
            <a:endParaRPr lang="en-US" sz="4800" dirty="0"/>
          </a:p>
        </p:txBody>
      </p:sp>
      <p:sp>
        <p:nvSpPr>
          <p:cNvPr id="3" name="Text 0"/>
          <p:cNvSpPr/>
          <p:nvPr>
            <p:ph idx="101" type="body" hasCustomPrompt="1"/>
          </p:nvPr>
        </p:nvSpPr>
        <p:spPr>
          <a:xfrm>
            <a:off x="548640" y="3017520"/>
            <a:ext cx="5852160" cy="1097280"/>
          </a:xfrm>
          <a:prstGeom prst="rect">
            <a:avLst/>
          </a:prstGeom>
          <a:noFill/>
          <a:ln/>
        </p:spPr>
        <p:txBody>
          <a:bodyPr wrap="square" lIns="0" tIns="0" rIns="0" bIns="0" rtlCol="0" anchor="t"/>
          <a:lstStyle/>
          <a:p>
            <a:pPr indent="0" marL="0">
              <a:buNone/>
            </a:pPr>
            <a:r>
              <a:rPr lang="en-US" sz="1800" dirty="0">
                <a:solidFill>
                  <a:schemeClr val="bg2"/>
                </a:solidFill>
              </a:rPr>
              <a:t>A data story from the Seasonal Agricultural Survey 2025</a:t>
            </a:r>
            <a:endParaRPr lang="en-US" sz="1800" dirty="0"/>
          </a:p>
          <a:p>
            <a:pPr indent="0" marL="0">
              <a:buNone/>
            </a:pPr>
            <a:r>
              <a:rPr lang="en-US" sz="1000" dirty="0">
                <a:solidFill>
                  <a:schemeClr val="bg2"/>
                </a:solidFill>
              </a:rPr>
              <a:t> </a:t>
            </a:r>
            <a:endParaRPr lang="en-US" sz="1800" dirty="0"/>
          </a:p>
          <a:p>
            <a:pPr indent="0" marL="0">
              <a:buNone/>
            </a:pPr>
            <a:r>
              <a:rPr lang="en-US" sz="1400" b="1" dirty="0">
                <a:solidFill>
                  <a:schemeClr val="bg2"/>
                </a:solidFill>
              </a:rPr>
              <a:t>Team Devotha-Kevine, INES-Ruhengeri</a:t>
            </a:r>
            <a:endParaRPr lang="en-US" sz="1800" dirty="0"/>
          </a:p>
          <a:p>
            <a:pPr indent="0" marL="0">
              <a:buNone/>
            </a:pPr>
            <a:r>
              <a:rPr lang="en-US" sz="1400" dirty="0">
                <a:solidFill>
                  <a:schemeClr val="bg2"/>
                </a:solidFill>
              </a:rPr>
              <a:t>NISR 2026 Infographic Competition</a:t>
            </a:r>
            <a:endParaRPr lang="en-US" sz="1800" dirty="0"/>
          </a:p>
        </p:txBody>
      </p:sp>
      <p:sp>
        <p:nvSpPr>
          <p:cNvPr id="4" name="Shape 2"/>
          <p:cNvSpPr/>
          <p:nvPr/>
        </p:nvSpPr>
        <p:spPr>
          <a:xfrm>
            <a:off x="6537960" y="1234440"/>
            <a:ext cx="1920240" cy="1920240"/>
          </a:xfrm>
          <a:prstGeom prst="ellipse">
            <a:avLst/>
          </a:prstGeom>
          <a:solidFill>
            <a:schemeClr val="accent2"/>
          </a:solidFill>
          <a:ln w="12700">
            <a:solidFill>
              <a:schemeClr val="accent2"/>
            </a:solidFill>
            <a:prstDash val="solid"/>
          </a:ln>
        </p:spPr>
      </p:sp>
      <p:sp>
        <p:nvSpPr>
          <p:cNvPr id="5" name="Shape 3"/>
          <p:cNvSpPr/>
          <p:nvPr/>
        </p:nvSpPr>
        <p:spPr>
          <a:xfrm>
            <a:off x="7360920" y="2514600"/>
            <a:ext cx="1371600" cy="1371600"/>
          </a:xfrm>
          <a:prstGeom prst="ellipse">
            <a:avLst/>
          </a:prstGeom>
          <a:solidFill>
            <a:schemeClr val="accent1"/>
          </a:solidFill>
          <a:ln w="12700">
            <a:solidFill>
              <a:schemeClr val="accent1"/>
            </a:solidFill>
            <a:prstDash val="solid"/>
          </a:ln>
        </p:spPr>
      </p:sp>
      <p:sp>
        <p:nvSpPr>
          <p:cNvPr id="6" name="Shape 4"/>
          <p:cNvSpPr/>
          <p:nvPr/>
        </p:nvSpPr>
        <p:spPr>
          <a:xfrm>
            <a:off x="7269480" y="2423160"/>
            <a:ext cx="1554480" cy="1554480"/>
          </a:xfrm>
          <a:prstGeom prst="ellipse">
            <a:avLst/>
          </a:prstGeom>
          <a:solidFill>
            <a:schemeClr val="tx1">
              <a:alpha val="0"/>
            </a:schemeClr>
          </a:solidFill>
          <a:ln w="762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Why this story matters</a:t>
            </a:r>
            <a:endParaRPr lang="en-US" sz="3600" dirty="0"/>
          </a:p>
        </p:txBody>
      </p:sp>
      <p:sp>
        <p:nvSpPr>
          <p:cNvPr id="3" name="Land stat"/>
          <p:cNvSpPr txBox="1"/>
          <p:nvPr/>
        </p:nvSpPr>
        <p:spPr>
          <a:xfrm>
            <a:off x="457200" y="1325880"/>
            <a:ext cx="3291840" cy="1188720"/>
          </a:xfrm>
          <a:prstGeom prst="rect">
            <a:avLst/>
          </a:prstGeom>
          <a:noFill/>
          <a:ln/>
        </p:spPr>
        <p:txBody>
          <a:bodyPr wrap="square" lIns="0" tIns="0" rIns="0" bIns="0" rtlCol="0" anchor="ctr"/>
          <a:lstStyle/>
          <a:p>
            <a:pPr indent="0" marL="0">
              <a:buNone/>
            </a:pPr>
            <a:r>
              <a:rPr lang="en-US" sz="8000" b="1" dirty="0">
                <a:solidFill>
                  <a:schemeClr val="accent1"/>
                </a:solidFill>
                <a:latin typeface="+mj-lt" pitchFamily="34" charset="0"/>
                <a:ea typeface="+mj-lt" pitchFamily="34" charset="-122"/>
                <a:cs typeface="+mj-lt" pitchFamily="34" charset="-120"/>
              </a:rPr>
              <a:t>60%</a:t>
            </a:r>
            <a:endParaRPr lang="en-US" sz="8000" dirty="0"/>
          </a:p>
        </p:txBody>
      </p:sp>
      <p:sp>
        <p:nvSpPr>
          <p:cNvPr id="4" name="Text 2"/>
          <p:cNvSpPr txBox="1"/>
          <p:nvPr/>
        </p:nvSpPr>
        <p:spPr>
          <a:xfrm>
            <a:off x="457200" y="2606040"/>
            <a:ext cx="3291840" cy="914400"/>
          </a:xfrm>
          <a:prstGeom prst="rect">
            <a:avLst/>
          </a:prstGeom>
          <a:noFill/>
          <a:ln/>
        </p:spPr>
        <p:txBody>
          <a:bodyPr wrap="square" lIns="0" tIns="0" rIns="0" bIns="0" rtlCol="0" anchor="t"/>
          <a:lstStyle/>
          <a:p>
            <a:pPr indent="0" marL="0">
              <a:buNone/>
            </a:pPr>
            <a:r>
              <a:rPr lang="en-US" sz="1500" dirty="0">
                <a:solidFill>
                  <a:schemeClr val="tx2"/>
                </a:solidFill>
              </a:rPr>
              <a:t>of Rwanda's land is used for agriculture: 1.423 million of 2.376 million hectares (Season B 2025)</a:t>
            </a:r>
            <a:endParaRPr lang="en-US" sz="1500" dirty="0"/>
          </a:p>
        </p:txBody>
      </p:sp>
      <p:sp>
        <p:nvSpPr>
          <p:cNvPr id="5" name="Question panel"/>
          <p:cNvSpPr/>
          <p:nvPr/>
        </p:nvSpPr>
        <p:spPr>
          <a:xfrm>
            <a:off x="4206240" y="1325880"/>
            <a:ext cx="4480560" cy="3108960"/>
          </a:xfrm>
          <a:prstGeom prst="rect">
            <a:avLst/>
          </a:prstGeom>
          <a:solidFill>
            <a:schemeClr val="bg2"/>
          </a:solidFill>
          <a:ln w="12700">
            <a:solidFill>
              <a:schemeClr val="bg2"/>
            </a:solidFill>
            <a:prstDash val="solid"/>
          </a:ln>
        </p:spPr>
      </p:sp>
      <p:sp>
        <p:nvSpPr>
          <p:cNvPr id="6" name="Text 4"/>
          <p:cNvSpPr txBox="1"/>
          <p:nvPr/>
        </p:nvSpPr>
        <p:spPr>
          <a:xfrm>
            <a:off x="4480560" y="1554480"/>
            <a:ext cx="3931920" cy="365760"/>
          </a:xfrm>
          <a:prstGeom prst="rect">
            <a:avLst/>
          </a:prstGeom>
          <a:noFill/>
          <a:ln/>
        </p:spPr>
        <p:txBody>
          <a:bodyPr wrap="square" lIns="0" tIns="0" rIns="0" bIns="0" rtlCol="0" anchor="ctr"/>
          <a:lstStyle/>
          <a:p>
            <a:pPr indent="0" marL="0">
              <a:buNone/>
            </a:pPr>
            <a:r>
              <a:rPr lang="en-US" sz="1400" b="1" dirty="0">
                <a:solidFill>
                  <a:schemeClr val="accent4"/>
                </a:solidFill>
              </a:rPr>
              <a:t>Our question</a:t>
            </a:r>
            <a:endParaRPr lang="en-US" sz="1400" dirty="0"/>
          </a:p>
        </p:txBody>
      </p:sp>
      <p:sp>
        <p:nvSpPr>
          <p:cNvPr id="7" name="Text 5"/>
          <p:cNvSpPr txBox="1"/>
          <p:nvPr/>
        </p:nvSpPr>
        <p:spPr>
          <a:xfrm>
            <a:off x="4480560" y="1965960"/>
            <a:ext cx="3931920" cy="12801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Where exactly is the gap between small-scale and large-scale farms, and what does it tell us?</a:t>
            </a:r>
            <a:endParaRPr lang="en-US" sz="2200" dirty="0"/>
          </a:p>
        </p:txBody>
      </p:sp>
      <p:sp>
        <p:nvSpPr>
          <p:cNvPr id="8" name="Shape 6"/>
          <p:cNvSpPr/>
          <p:nvPr/>
        </p:nvSpPr>
        <p:spPr>
          <a:xfrm>
            <a:off x="4480560" y="3611880"/>
            <a:ext cx="274320" cy="274320"/>
          </a:xfrm>
          <a:prstGeom prst="ellipse">
            <a:avLst/>
          </a:prstGeom>
          <a:solidFill>
            <a:schemeClr val="accent2"/>
          </a:solidFill>
          <a:ln w="12700">
            <a:solidFill>
              <a:schemeClr val="accent2"/>
            </a:solidFill>
            <a:prstDash val="solid"/>
          </a:ln>
        </p:spPr>
      </p:sp>
      <p:sp>
        <p:nvSpPr>
          <p:cNvPr id="9" name="Text 7"/>
          <p:cNvSpPr txBox="1"/>
          <p:nvPr/>
        </p:nvSpPr>
        <p:spPr>
          <a:xfrm>
            <a:off x="4846320" y="3584448"/>
            <a:ext cx="3474720" cy="329184"/>
          </a:xfrm>
          <a:prstGeom prst="rect">
            <a:avLst/>
          </a:prstGeom>
          <a:noFill/>
          <a:ln/>
        </p:spPr>
        <p:txBody>
          <a:bodyPr wrap="square" lIns="0" tIns="0" rIns="0" bIns="0" rtlCol="0" anchor="ctr"/>
          <a:lstStyle/>
          <a:p>
            <a:pPr indent="0" marL="0">
              <a:buNone/>
            </a:pPr>
            <a:r>
              <a:rPr lang="en-US" sz="1400" dirty="0">
                <a:solidFill>
                  <a:schemeClr val="tx2"/>
                </a:solidFill>
              </a:rPr>
              <a:t>Small-scale farmers</a:t>
            </a:r>
            <a:endParaRPr lang="en-US" sz="1400" dirty="0"/>
          </a:p>
        </p:txBody>
      </p:sp>
      <p:sp>
        <p:nvSpPr>
          <p:cNvPr id="10" name="Shape 8"/>
          <p:cNvSpPr/>
          <p:nvPr/>
        </p:nvSpPr>
        <p:spPr>
          <a:xfrm>
            <a:off x="4480560" y="3977640"/>
            <a:ext cx="274320" cy="274320"/>
          </a:xfrm>
          <a:prstGeom prst="ellipse">
            <a:avLst/>
          </a:prstGeom>
          <a:solidFill>
            <a:schemeClr val="accent1"/>
          </a:solidFill>
          <a:ln w="12700">
            <a:solidFill>
              <a:schemeClr val="accent1"/>
            </a:solidFill>
            <a:prstDash val="solid"/>
          </a:ln>
        </p:spPr>
      </p:sp>
      <p:sp>
        <p:nvSpPr>
          <p:cNvPr id="11" name="Text 9"/>
          <p:cNvSpPr txBox="1"/>
          <p:nvPr/>
        </p:nvSpPr>
        <p:spPr>
          <a:xfrm>
            <a:off x="4846320" y="3950208"/>
            <a:ext cx="3474720" cy="329184"/>
          </a:xfrm>
          <a:prstGeom prst="rect">
            <a:avLst/>
          </a:prstGeom>
          <a:noFill/>
          <a:ln/>
        </p:spPr>
        <p:txBody>
          <a:bodyPr wrap="square" lIns="0" tIns="0" rIns="0" bIns="0" rtlCol="0" anchor="ctr"/>
          <a:lstStyle/>
          <a:p>
            <a:pPr indent="0" marL="0">
              <a:buNone/>
            </a:pPr>
            <a:r>
              <a:rPr lang="en-US" sz="1400" dirty="0">
                <a:solidFill>
                  <a:schemeClr val="tx2"/>
                </a:solidFill>
              </a:rPr>
              <a:t>Large-scale farmers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Our data and method</a:t>
            </a:r>
            <a:endParaRPr lang="en-US" sz="3600" dirty="0"/>
          </a:p>
        </p:txBody>
      </p:sp>
      <p:sp>
        <p:nvSpPr>
          <p:cNvPr id="3" name="Shape 1"/>
          <p:cNvSpPr/>
          <p:nvPr/>
        </p:nvSpPr>
        <p:spPr>
          <a:xfrm>
            <a:off x="457200" y="1280160"/>
            <a:ext cx="2606040" cy="960120"/>
          </a:xfrm>
          <a:prstGeom prst="roundRect">
            <a:avLst>
              <a:gd name="adj" fmla="val 7619"/>
            </a:avLst>
          </a:prstGeom>
          <a:solidFill>
            <a:schemeClr val="accent1"/>
          </a:solidFill>
          <a:ln w="12700">
            <a:solidFill>
              <a:schemeClr val="accent1"/>
            </a:solidFill>
            <a:prstDash val="solid"/>
          </a:ln>
        </p:spPr>
      </p:sp>
      <p:sp>
        <p:nvSpPr>
          <p:cNvPr id="4" name="Text 2"/>
          <p:cNvSpPr txBox="1"/>
          <p:nvPr/>
        </p:nvSpPr>
        <p:spPr>
          <a:xfrm>
            <a:off x="640080" y="1325880"/>
            <a:ext cx="2286000" cy="868680"/>
          </a:xfrm>
          <a:prstGeom prst="rect">
            <a:avLst/>
          </a:prstGeom>
          <a:noFill/>
          <a:ln/>
        </p:spPr>
        <p:txBody>
          <a:bodyPr wrap="square" lIns="0" tIns="0" rIns="0" bIns="0" rtlCol="0" anchor="ctr"/>
          <a:lstStyle/>
          <a:p>
            <a:pPr indent="0" marL="0">
              <a:buNone/>
            </a:pPr>
            <a:r>
              <a:rPr lang="en-US" sz="2000" b="1" dirty="0">
                <a:solidFill>
                  <a:schemeClr val="bg1"/>
                </a:solidFill>
              </a:rPr>
              <a:t>Season A</a:t>
            </a:r>
            <a:endParaRPr lang="en-US" sz="2000" dirty="0"/>
          </a:p>
          <a:p>
            <a:pPr indent="0" marL="0">
              <a:buNone/>
            </a:pPr>
            <a:r>
              <a:rPr lang="en-US" sz="1400" dirty="0">
                <a:solidFill>
                  <a:schemeClr val="bg1"/>
                </a:solidFill>
              </a:rPr>
              <a:t>Sep 2024 to Feb 2025</a:t>
            </a:r>
            <a:endParaRPr lang="en-US" sz="2000" dirty="0"/>
          </a:p>
        </p:txBody>
      </p:sp>
      <p:sp>
        <p:nvSpPr>
          <p:cNvPr id="5" name="Shape 3"/>
          <p:cNvSpPr/>
          <p:nvPr/>
        </p:nvSpPr>
        <p:spPr>
          <a:xfrm>
            <a:off x="3246120" y="1280160"/>
            <a:ext cx="2606040" cy="960120"/>
          </a:xfrm>
          <a:prstGeom prst="roundRect">
            <a:avLst>
              <a:gd name="adj" fmla="val 7619"/>
            </a:avLst>
          </a:prstGeom>
          <a:solidFill>
            <a:schemeClr val="accent2"/>
          </a:solidFill>
          <a:ln w="12700">
            <a:solidFill>
              <a:schemeClr val="accent2"/>
            </a:solidFill>
            <a:prstDash val="solid"/>
          </a:ln>
        </p:spPr>
      </p:sp>
      <p:sp>
        <p:nvSpPr>
          <p:cNvPr id="6" name="Text 4"/>
          <p:cNvSpPr txBox="1"/>
          <p:nvPr/>
        </p:nvSpPr>
        <p:spPr>
          <a:xfrm>
            <a:off x="3429000" y="1325880"/>
            <a:ext cx="2286000" cy="868680"/>
          </a:xfrm>
          <a:prstGeom prst="rect">
            <a:avLst/>
          </a:prstGeom>
          <a:noFill/>
          <a:ln/>
        </p:spPr>
        <p:txBody>
          <a:bodyPr wrap="square" lIns="0" tIns="0" rIns="0" bIns="0" rtlCol="0" anchor="ctr"/>
          <a:lstStyle/>
          <a:p>
            <a:pPr indent="0" marL="0">
              <a:buNone/>
            </a:pPr>
            <a:r>
              <a:rPr lang="en-US" sz="2000" b="1" dirty="0">
                <a:solidFill>
                  <a:schemeClr val="tx1"/>
                </a:solidFill>
              </a:rPr>
              <a:t>Season B</a:t>
            </a:r>
            <a:endParaRPr lang="en-US" sz="2000" dirty="0"/>
          </a:p>
          <a:p>
            <a:pPr indent="0" marL="0">
              <a:buNone/>
            </a:pPr>
            <a:r>
              <a:rPr lang="en-US" sz="1400" dirty="0">
                <a:solidFill>
                  <a:schemeClr val="tx1"/>
                </a:solidFill>
              </a:rPr>
              <a:t>Mar to Jun 2025</a:t>
            </a:r>
            <a:endParaRPr lang="en-US" sz="2000" dirty="0"/>
          </a:p>
        </p:txBody>
      </p:sp>
      <p:sp>
        <p:nvSpPr>
          <p:cNvPr id="7" name="Shape 5"/>
          <p:cNvSpPr/>
          <p:nvPr/>
        </p:nvSpPr>
        <p:spPr>
          <a:xfrm>
            <a:off x="6035040" y="1280160"/>
            <a:ext cx="2606040" cy="960120"/>
          </a:xfrm>
          <a:prstGeom prst="roundRect">
            <a:avLst>
              <a:gd name="adj" fmla="val 7619"/>
            </a:avLst>
          </a:prstGeom>
          <a:solidFill>
            <a:schemeClr val="accent3"/>
          </a:solidFill>
          <a:ln w="12700">
            <a:solidFill>
              <a:schemeClr val="accent3"/>
            </a:solidFill>
            <a:prstDash val="solid"/>
          </a:ln>
        </p:spPr>
      </p:sp>
      <p:sp>
        <p:nvSpPr>
          <p:cNvPr id="8" name="Text 6"/>
          <p:cNvSpPr txBox="1"/>
          <p:nvPr/>
        </p:nvSpPr>
        <p:spPr>
          <a:xfrm>
            <a:off x="6217920" y="1325880"/>
            <a:ext cx="2286000" cy="868680"/>
          </a:xfrm>
          <a:prstGeom prst="rect">
            <a:avLst/>
          </a:prstGeom>
          <a:noFill/>
          <a:ln/>
        </p:spPr>
        <p:txBody>
          <a:bodyPr wrap="square" lIns="0" tIns="0" rIns="0" bIns="0" rtlCol="0" anchor="ctr"/>
          <a:lstStyle/>
          <a:p>
            <a:pPr indent="0" marL="0">
              <a:buNone/>
            </a:pPr>
            <a:r>
              <a:rPr lang="en-US" sz="2000" b="1" dirty="0">
                <a:solidFill>
                  <a:schemeClr val="bg1"/>
                </a:solidFill>
              </a:rPr>
              <a:t>Season C</a:t>
            </a:r>
            <a:endParaRPr lang="en-US" sz="2000" dirty="0"/>
          </a:p>
          <a:p>
            <a:pPr indent="0" marL="0">
              <a:buNone/>
            </a:pPr>
            <a:r>
              <a:rPr lang="en-US" sz="1400" dirty="0">
                <a:solidFill>
                  <a:schemeClr val="bg1"/>
                </a:solidFill>
              </a:rPr>
              <a:t>Jul to Sep 2025</a:t>
            </a:r>
            <a:endParaRPr lang="en-US" sz="2000" dirty="0"/>
          </a:p>
        </p:txBody>
      </p:sp>
      <p:sp>
        <p:nvSpPr>
          <p:cNvPr id="9" name="Text 7"/>
          <p:cNvSpPr txBox="1"/>
          <p:nvPr/>
        </p:nvSpPr>
        <p:spPr>
          <a:xfrm>
            <a:off x="457200" y="2560320"/>
            <a:ext cx="2606040" cy="7315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1,200</a:t>
            </a:r>
            <a:endParaRPr lang="en-US" sz="4000" dirty="0"/>
          </a:p>
        </p:txBody>
      </p:sp>
      <p:sp>
        <p:nvSpPr>
          <p:cNvPr id="10" name="Text 8"/>
          <p:cNvSpPr txBox="1"/>
          <p:nvPr/>
        </p:nvSpPr>
        <p:spPr>
          <a:xfrm>
            <a:off x="457200" y="3291840"/>
            <a:ext cx="2606040" cy="640080"/>
          </a:xfrm>
          <a:prstGeom prst="rect">
            <a:avLst/>
          </a:prstGeom>
          <a:noFill/>
          <a:ln/>
        </p:spPr>
        <p:txBody>
          <a:bodyPr wrap="square" lIns="0" tIns="0" rIns="0" bIns="0" rtlCol="0" anchor="t"/>
          <a:lstStyle/>
          <a:p>
            <a:pPr indent="0" marL="0">
              <a:buNone/>
            </a:pPr>
            <a:r>
              <a:rPr lang="en-US" sz="1400" dirty="0">
                <a:solidFill>
                  <a:schemeClr val="tx2"/>
                </a:solidFill>
              </a:rPr>
              <a:t>segments surveyed across all 30 districts</a:t>
            </a:r>
            <a:endParaRPr lang="en-US" sz="1400" dirty="0"/>
          </a:p>
        </p:txBody>
      </p:sp>
      <p:sp>
        <p:nvSpPr>
          <p:cNvPr id="11" name="Text 9"/>
          <p:cNvSpPr txBox="1"/>
          <p:nvPr/>
        </p:nvSpPr>
        <p:spPr>
          <a:xfrm>
            <a:off x="3246120" y="2560320"/>
            <a:ext cx="2606040" cy="7315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~380</a:t>
            </a:r>
            <a:endParaRPr lang="en-US" sz="4000" dirty="0"/>
          </a:p>
        </p:txBody>
      </p:sp>
      <p:sp>
        <p:nvSpPr>
          <p:cNvPr id="12" name="Text 10"/>
          <p:cNvSpPr txBox="1"/>
          <p:nvPr/>
        </p:nvSpPr>
        <p:spPr>
          <a:xfrm>
            <a:off x="3246120" y="3291840"/>
            <a:ext cx="2606040" cy="640080"/>
          </a:xfrm>
          <a:prstGeom prst="rect">
            <a:avLst/>
          </a:prstGeom>
          <a:noFill/>
          <a:ln/>
        </p:spPr>
        <p:txBody>
          <a:bodyPr wrap="square" lIns="0" tIns="0" rIns="0" bIns="0" rtlCol="0" anchor="t"/>
          <a:lstStyle/>
          <a:p>
            <a:pPr indent="0" marL="0">
              <a:buNone/>
            </a:pPr>
            <a:r>
              <a:rPr lang="en-US" sz="1400" dirty="0">
                <a:solidFill>
                  <a:schemeClr val="tx2"/>
                </a:solidFill>
              </a:rPr>
              <a:t>large-scale farmers each season</a:t>
            </a:r>
            <a:endParaRPr lang="en-US" sz="1400" dirty="0"/>
          </a:p>
        </p:txBody>
      </p:sp>
      <p:sp>
        <p:nvSpPr>
          <p:cNvPr id="13" name="Text 11"/>
          <p:cNvSpPr txBox="1"/>
          <p:nvPr/>
        </p:nvSpPr>
        <p:spPr>
          <a:xfrm>
            <a:off x="6035040" y="2560320"/>
            <a:ext cx="2606040" cy="7315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1</a:t>
            </a:r>
            <a:endParaRPr lang="en-US" sz="4000" dirty="0"/>
          </a:p>
        </p:txBody>
      </p:sp>
      <p:sp>
        <p:nvSpPr>
          <p:cNvPr id="14" name="Text 12"/>
          <p:cNvSpPr txBox="1"/>
          <p:nvPr/>
        </p:nvSpPr>
        <p:spPr>
          <a:xfrm>
            <a:off x="6035040" y="3291840"/>
            <a:ext cx="2606040" cy="640080"/>
          </a:xfrm>
          <a:prstGeom prst="rect">
            <a:avLst/>
          </a:prstGeom>
          <a:noFill/>
          <a:ln/>
        </p:spPr>
        <p:txBody>
          <a:bodyPr wrap="square" lIns="0" tIns="0" rIns="0" bIns="0" rtlCol="0" anchor="t"/>
          <a:lstStyle/>
          <a:p>
            <a:pPr indent="0" marL="0">
              <a:buNone/>
            </a:pPr>
            <a:r>
              <a:rPr lang="en-US" sz="1400" dirty="0">
                <a:solidFill>
                  <a:schemeClr val="tx2"/>
                </a:solidFill>
              </a:rPr>
              <a:t>official source: SAS Annual Report 2025</a:t>
            </a:r>
            <a:endParaRPr lang="en-US" sz="1400" dirty="0"/>
          </a:p>
        </p:txBody>
      </p:sp>
      <p:sp>
        <p:nvSpPr>
          <p:cNvPr id="15" name="Text 13"/>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200" i="1" dirty="0">
                <a:solidFill>
                  <a:schemeClr val="accent4"/>
                </a:solidFill>
              </a:rPr>
              <a:t>Every figure checked against the National Institute of Statistics of Rwanda (NISR) report, and every chart labelled with its season.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input gap</a:t>
            </a:r>
            <a:endParaRPr lang="en-US" sz="3600" dirty="0"/>
          </a:p>
        </p:txBody>
      </p:sp>
      <p:graphicFrame>
        <p:nvGraphicFramePr>
          <p:cNvPr id="3" name="Input gap chart" descr=""/>
          <p:cNvGraphicFramePr/>
          <p:nvPr/>
        </p:nvGraphicFramePr>
        <p:xfrm>
          <a:off x="457200" y="114300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217920" y="1280160"/>
            <a:ext cx="2468880" cy="822960"/>
          </a:xfrm>
          <a:prstGeom prst="rect">
            <a:avLst/>
          </a:prstGeom>
          <a:noFill/>
          <a:ln/>
        </p:spPr>
        <p:txBody>
          <a:bodyPr wrap="square" lIns="0" tIns="0" rIns="0" bIns="0" rtlCol="0" anchor="ctr"/>
          <a:lstStyle/>
          <a:p>
            <a:pPr indent="0" marL="0">
              <a:buNone/>
            </a:pPr>
            <a:r>
              <a:rPr lang="en-US" sz="5400" b="1" dirty="0">
                <a:solidFill>
                  <a:schemeClr val="accent3"/>
                </a:solidFill>
                <a:latin typeface="+mj-lt" pitchFamily="34" charset="0"/>
                <a:ea typeface="+mj-lt" pitchFamily="34" charset="-122"/>
                <a:cs typeface="+mj-lt" pitchFamily="34" charset="-120"/>
              </a:rPr>
              <a:t>2.4×</a:t>
            </a:r>
            <a:endParaRPr lang="en-US" sz="5400" dirty="0"/>
          </a:p>
        </p:txBody>
      </p:sp>
      <p:sp>
        <p:nvSpPr>
          <p:cNvPr id="5" name="Text 2"/>
          <p:cNvSpPr txBox="1"/>
          <p:nvPr/>
        </p:nvSpPr>
        <p:spPr>
          <a:xfrm>
            <a:off x="6217920" y="2148840"/>
            <a:ext cx="2468880" cy="914400"/>
          </a:xfrm>
          <a:prstGeom prst="rect">
            <a:avLst/>
          </a:prstGeom>
          <a:noFill/>
          <a:ln/>
        </p:spPr>
        <p:txBody>
          <a:bodyPr wrap="square" lIns="0" tIns="0" rIns="0" bIns="0" rtlCol="0" anchor="t"/>
          <a:lstStyle/>
          <a:p>
            <a:pPr indent="0" marL="0">
              <a:buNone/>
            </a:pPr>
            <a:r>
              <a:rPr lang="en-US" sz="1400" dirty="0">
                <a:solidFill>
                  <a:schemeClr val="tx2"/>
                </a:solidFill>
              </a:rPr>
              <a:t>Large-scale farmers were 2.4 times as likely to plant improved seed in Season A.</a:t>
            </a:r>
            <a:endParaRPr lang="en-US" sz="1400" dirty="0"/>
          </a:p>
        </p:txBody>
      </p:sp>
      <p:sp>
        <p:nvSpPr>
          <p:cNvPr id="6" name="Text 3"/>
          <p:cNvSpPr txBox="1"/>
          <p:nvPr/>
        </p:nvSpPr>
        <p:spPr>
          <a:xfrm>
            <a:off x="6217920" y="3246120"/>
            <a:ext cx="2468880" cy="731520"/>
          </a:xfrm>
          <a:prstGeom prst="rect">
            <a:avLst/>
          </a:prstGeom>
          <a:noFill/>
          <a:ln/>
        </p:spPr>
        <p:txBody>
          <a:bodyPr wrap="square" lIns="0" tIns="0" rIns="0" bIns="0" rtlCol="0" anchor="t"/>
          <a:lstStyle/>
          <a:p>
            <a:pPr indent="0" marL="0">
              <a:buNone/>
            </a:pPr>
            <a:r>
              <a:rPr lang="en-US" sz="1400" b="1" dirty="0">
                <a:solidFill>
                  <a:schemeClr val="tx1"/>
                </a:solidFill>
              </a:rPr>
              <a:t>Season B: 72.1% vs 16.7%. The seed gap widens.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One input runs the other way</a:t>
            </a:r>
            <a:endParaRPr lang="en-US" sz="3600" dirty="0"/>
          </a:p>
        </p:txBody>
      </p:sp>
      <p:sp>
        <p:nvSpPr>
          <p:cNvPr id="3" name="Text 1"/>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500" dirty="0">
                <a:solidFill>
                  <a:schemeClr val="accent4"/>
                </a:solidFill>
              </a:rPr>
              <a:t>Organic fertilizer use, share of farmers</a:t>
            </a:r>
            <a:endParaRPr lang="en-US" sz="1500" dirty="0"/>
          </a:p>
        </p:txBody>
      </p:sp>
      <p:sp>
        <p:nvSpPr>
          <p:cNvPr id="4" name="Shape 2"/>
          <p:cNvSpPr/>
          <p:nvPr/>
        </p:nvSpPr>
        <p:spPr>
          <a:xfrm>
            <a:off x="457200" y="1600200"/>
            <a:ext cx="3931920" cy="2148840"/>
          </a:xfrm>
          <a:prstGeom prst="rect">
            <a:avLst/>
          </a:prstGeom>
          <a:solidFill>
            <a:schemeClr val="bg2"/>
          </a:solidFill>
          <a:ln w="12700">
            <a:solidFill>
              <a:schemeClr val="bg2"/>
            </a:solidFill>
            <a:prstDash val="solid"/>
          </a:ln>
        </p:spPr>
      </p:sp>
      <p:sp>
        <p:nvSpPr>
          <p:cNvPr id="5" name="Text 3"/>
          <p:cNvSpPr txBox="1"/>
          <p:nvPr/>
        </p:nvSpPr>
        <p:spPr>
          <a:xfrm>
            <a:off x="731520" y="173736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Season A</a:t>
            </a:r>
            <a:endParaRPr lang="en-US" sz="1600" dirty="0"/>
          </a:p>
        </p:txBody>
      </p:sp>
      <p:sp>
        <p:nvSpPr>
          <p:cNvPr id="6" name="Shape 4"/>
          <p:cNvSpPr/>
          <p:nvPr/>
        </p:nvSpPr>
        <p:spPr>
          <a:xfrm>
            <a:off x="731520" y="2331720"/>
            <a:ext cx="292608" cy="292608"/>
          </a:xfrm>
          <a:prstGeom prst="ellipse">
            <a:avLst/>
          </a:prstGeom>
          <a:solidFill>
            <a:schemeClr val="accent2"/>
          </a:solidFill>
          <a:ln w="12700">
            <a:solidFill>
              <a:schemeClr val="accent2"/>
            </a:solidFill>
            <a:prstDash val="solid"/>
          </a:ln>
        </p:spPr>
      </p:sp>
      <p:sp>
        <p:nvSpPr>
          <p:cNvPr id="7" name="Text 5"/>
          <p:cNvSpPr txBox="1"/>
          <p:nvPr/>
        </p:nvSpPr>
        <p:spPr>
          <a:xfrm>
            <a:off x="1143000" y="2194560"/>
            <a:ext cx="14630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88.3%</a:t>
            </a:r>
            <a:endParaRPr lang="en-US" sz="3600" dirty="0"/>
          </a:p>
        </p:txBody>
      </p:sp>
      <p:sp>
        <p:nvSpPr>
          <p:cNvPr id="8" name="Text 6"/>
          <p:cNvSpPr txBox="1"/>
          <p:nvPr/>
        </p:nvSpPr>
        <p:spPr>
          <a:xfrm>
            <a:off x="2651760" y="2286000"/>
            <a:ext cx="1554480" cy="411480"/>
          </a:xfrm>
          <a:prstGeom prst="rect">
            <a:avLst/>
          </a:prstGeom>
          <a:noFill/>
          <a:ln/>
        </p:spPr>
        <p:txBody>
          <a:bodyPr wrap="square" lIns="0" tIns="0" rIns="0" bIns="0" rtlCol="0" anchor="ctr"/>
          <a:lstStyle/>
          <a:p>
            <a:pPr indent="0" marL="0">
              <a:buNone/>
            </a:pPr>
            <a:r>
              <a:rPr lang="en-US" sz="1400" dirty="0">
                <a:solidFill>
                  <a:schemeClr val="tx2"/>
                </a:solidFill>
              </a:rPr>
              <a:t>small-scale</a:t>
            </a:r>
            <a:endParaRPr lang="en-US" sz="1400" dirty="0"/>
          </a:p>
        </p:txBody>
      </p:sp>
      <p:sp>
        <p:nvSpPr>
          <p:cNvPr id="9" name="Shape 7"/>
          <p:cNvSpPr/>
          <p:nvPr/>
        </p:nvSpPr>
        <p:spPr>
          <a:xfrm>
            <a:off x="731520" y="3063240"/>
            <a:ext cx="292608" cy="292608"/>
          </a:xfrm>
          <a:prstGeom prst="ellipse">
            <a:avLst/>
          </a:prstGeom>
          <a:solidFill>
            <a:schemeClr val="accent1"/>
          </a:solidFill>
          <a:ln w="12700">
            <a:solidFill>
              <a:schemeClr val="accent1"/>
            </a:solidFill>
            <a:prstDash val="solid"/>
          </a:ln>
        </p:spPr>
      </p:sp>
      <p:sp>
        <p:nvSpPr>
          <p:cNvPr id="10" name="Text 8"/>
          <p:cNvSpPr txBox="1"/>
          <p:nvPr/>
        </p:nvSpPr>
        <p:spPr>
          <a:xfrm>
            <a:off x="1143000" y="2926080"/>
            <a:ext cx="14630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77.5%</a:t>
            </a:r>
            <a:endParaRPr lang="en-US" sz="3600" dirty="0"/>
          </a:p>
        </p:txBody>
      </p:sp>
      <p:sp>
        <p:nvSpPr>
          <p:cNvPr id="11" name="Text 9"/>
          <p:cNvSpPr txBox="1"/>
          <p:nvPr/>
        </p:nvSpPr>
        <p:spPr>
          <a:xfrm>
            <a:off x="2651760" y="3017520"/>
            <a:ext cx="1554480" cy="411480"/>
          </a:xfrm>
          <a:prstGeom prst="rect">
            <a:avLst/>
          </a:prstGeom>
          <a:noFill/>
          <a:ln/>
        </p:spPr>
        <p:txBody>
          <a:bodyPr wrap="square" lIns="0" tIns="0" rIns="0" bIns="0" rtlCol="0" anchor="ctr"/>
          <a:lstStyle/>
          <a:p>
            <a:pPr indent="0" marL="0">
              <a:buNone/>
            </a:pPr>
            <a:r>
              <a:rPr lang="en-US" sz="1400" dirty="0">
                <a:solidFill>
                  <a:schemeClr val="tx2"/>
                </a:solidFill>
              </a:rPr>
              <a:t>large-scale</a:t>
            </a:r>
            <a:endParaRPr lang="en-US" sz="1400" dirty="0"/>
          </a:p>
        </p:txBody>
      </p:sp>
      <p:sp>
        <p:nvSpPr>
          <p:cNvPr id="12" name="Shape 10"/>
          <p:cNvSpPr/>
          <p:nvPr/>
        </p:nvSpPr>
        <p:spPr>
          <a:xfrm>
            <a:off x="4663440" y="1600200"/>
            <a:ext cx="3931920" cy="2148840"/>
          </a:xfrm>
          <a:prstGeom prst="rect">
            <a:avLst/>
          </a:prstGeom>
          <a:solidFill>
            <a:schemeClr val="bg2"/>
          </a:solidFill>
          <a:ln w="12700">
            <a:solidFill>
              <a:schemeClr val="bg2"/>
            </a:solidFill>
            <a:prstDash val="solid"/>
          </a:ln>
        </p:spPr>
      </p:sp>
      <p:sp>
        <p:nvSpPr>
          <p:cNvPr id="13" name="Text 11"/>
          <p:cNvSpPr txBox="1"/>
          <p:nvPr/>
        </p:nvSpPr>
        <p:spPr>
          <a:xfrm>
            <a:off x="4937760" y="173736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Season B</a:t>
            </a:r>
            <a:endParaRPr lang="en-US" sz="1600" dirty="0"/>
          </a:p>
        </p:txBody>
      </p:sp>
      <p:sp>
        <p:nvSpPr>
          <p:cNvPr id="14" name="Shape 12"/>
          <p:cNvSpPr/>
          <p:nvPr/>
        </p:nvSpPr>
        <p:spPr>
          <a:xfrm>
            <a:off x="4937760" y="2331720"/>
            <a:ext cx="292608" cy="292608"/>
          </a:xfrm>
          <a:prstGeom prst="ellipse">
            <a:avLst/>
          </a:prstGeom>
          <a:solidFill>
            <a:schemeClr val="accent2"/>
          </a:solidFill>
          <a:ln w="12700">
            <a:solidFill>
              <a:schemeClr val="accent2"/>
            </a:solidFill>
            <a:prstDash val="solid"/>
          </a:ln>
        </p:spPr>
      </p:sp>
      <p:sp>
        <p:nvSpPr>
          <p:cNvPr id="15" name="Text 13"/>
          <p:cNvSpPr txBox="1"/>
          <p:nvPr/>
        </p:nvSpPr>
        <p:spPr>
          <a:xfrm>
            <a:off x="5349240" y="2194560"/>
            <a:ext cx="14630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81.2%</a:t>
            </a:r>
            <a:endParaRPr lang="en-US" sz="3600" dirty="0"/>
          </a:p>
        </p:txBody>
      </p:sp>
      <p:sp>
        <p:nvSpPr>
          <p:cNvPr id="16" name="Text 14"/>
          <p:cNvSpPr txBox="1"/>
          <p:nvPr/>
        </p:nvSpPr>
        <p:spPr>
          <a:xfrm>
            <a:off x="6858000" y="2286000"/>
            <a:ext cx="1554480" cy="411480"/>
          </a:xfrm>
          <a:prstGeom prst="rect">
            <a:avLst/>
          </a:prstGeom>
          <a:noFill/>
          <a:ln/>
        </p:spPr>
        <p:txBody>
          <a:bodyPr wrap="square" lIns="0" tIns="0" rIns="0" bIns="0" rtlCol="0" anchor="ctr"/>
          <a:lstStyle/>
          <a:p>
            <a:pPr indent="0" marL="0">
              <a:buNone/>
            </a:pPr>
            <a:r>
              <a:rPr lang="en-US" sz="1400" dirty="0">
                <a:solidFill>
                  <a:schemeClr val="tx2"/>
                </a:solidFill>
              </a:rPr>
              <a:t>small-scale</a:t>
            </a:r>
            <a:endParaRPr lang="en-US" sz="1400" dirty="0"/>
          </a:p>
        </p:txBody>
      </p:sp>
      <p:sp>
        <p:nvSpPr>
          <p:cNvPr id="17" name="Shape 15"/>
          <p:cNvSpPr/>
          <p:nvPr/>
        </p:nvSpPr>
        <p:spPr>
          <a:xfrm>
            <a:off x="4937760" y="3063240"/>
            <a:ext cx="292608" cy="292608"/>
          </a:xfrm>
          <a:prstGeom prst="ellipse">
            <a:avLst/>
          </a:prstGeom>
          <a:solidFill>
            <a:schemeClr val="accent1"/>
          </a:solidFill>
          <a:ln w="12700">
            <a:solidFill>
              <a:schemeClr val="accent1"/>
            </a:solidFill>
            <a:prstDash val="solid"/>
          </a:ln>
        </p:spPr>
      </p:sp>
      <p:sp>
        <p:nvSpPr>
          <p:cNvPr id="18" name="Text 16"/>
          <p:cNvSpPr txBox="1"/>
          <p:nvPr/>
        </p:nvSpPr>
        <p:spPr>
          <a:xfrm>
            <a:off x="5349240" y="2926080"/>
            <a:ext cx="1463040" cy="5943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63.8%</a:t>
            </a:r>
            <a:endParaRPr lang="en-US" sz="3600" dirty="0"/>
          </a:p>
        </p:txBody>
      </p:sp>
      <p:sp>
        <p:nvSpPr>
          <p:cNvPr id="19" name="Text 17"/>
          <p:cNvSpPr txBox="1"/>
          <p:nvPr/>
        </p:nvSpPr>
        <p:spPr>
          <a:xfrm>
            <a:off x="6858000" y="3017520"/>
            <a:ext cx="1554480" cy="411480"/>
          </a:xfrm>
          <a:prstGeom prst="rect">
            <a:avLst/>
          </a:prstGeom>
          <a:noFill/>
          <a:ln/>
        </p:spPr>
        <p:txBody>
          <a:bodyPr wrap="square" lIns="0" tIns="0" rIns="0" bIns="0" rtlCol="0" anchor="ctr"/>
          <a:lstStyle/>
          <a:p>
            <a:pPr indent="0" marL="0">
              <a:buNone/>
            </a:pPr>
            <a:r>
              <a:rPr lang="en-US" sz="1400" dirty="0">
                <a:solidFill>
                  <a:schemeClr val="tx2"/>
                </a:solidFill>
              </a:rPr>
              <a:t>large-scale</a:t>
            </a:r>
            <a:endParaRPr lang="en-US" sz="1400" dirty="0"/>
          </a:p>
        </p:txBody>
      </p:sp>
      <p:sp>
        <p:nvSpPr>
          <p:cNvPr id="20" name="Text 18"/>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800" b="1" dirty="0">
                <a:solidFill>
                  <a:schemeClr val="accent1"/>
                </a:solidFill>
              </a:rPr>
              <a:t>Smallholders already feed their soil. The gap is in purchased inputs, not effort.</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yield gap</a:t>
            </a:r>
            <a:endParaRPr lang="en-US" sz="3600" dirty="0"/>
          </a:p>
        </p:txBody>
      </p:sp>
      <p:graphicFrame>
        <p:nvGraphicFramePr>
          <p:cNvPr id="3" name="Yield gap chart" descr=""/>
          <p:cNvGraphicFramePr/>
          <p:nvPr/>
        </p:nvGraphicFramePr>
        <p:xfrm>
          <a:off x="457200" y="114300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34440"/>
            <a:ext cx="2651760" cy="731520"/>
          </a:xfrm>
          <a:prstGeom prst="rect">
            <a:avLst/>
          </a:prstGeom>
          <a:noFill/>
          <a:ln/>
        </p:spPr>
        <p:txBody>
          <a:bodyPr wrap="square" lIns="0" tIns="0" rIns="0" bIns="0" rtlCol="0" anchor="ctr"/>
          <a:lstStyle/>
          <a:p>
            <a:pPr indent="0" marL="0">
              <a:buNone/>
            </a:pPr>
            <a:r>
              <a:rPr lang="en-US" sz="4800" b="1" dirty="0">
                <a:solidFill>
                  <a:schemeClr val="accent3"/>
                </a:solidFill>
                <a:latin typeface="+mj-lt" pitchFamily="34" charset="0"/>
                <a:ea typeface="+mj-lt" pitchFamily="34" charset="-122"/>
                <a:cs typeface="+mj-lt" pitchFamily="34" charset="-120"/>
              </a:rPr>
              <a:t>3.5×</a:t>
            </a:r>
            <a:endParaRPr lang="en-US" sz="4800" dirty="0"/>
          </a:p>
        </p:txBody>
      </p:sp>
      <p:sp>
        <p:nvSpPr>
          <p:cNvPr id="5" name="Text 2"/>
          <p:cNvSpPr txBox="1"/>
          <p:nvPr/>
        </p:nvSpPr>
        <p:spPr>
          <a:xfrm>
            <a:off x="6035040" y="1965960"/>
            <a:ext cx="2651760" cy="640080"/>
          </a:xfrm>
          <a:prstGeom prst="rect">
            <a:avLst/>
          </a:prstGeom>
          <a:noFill/>
          <a:ln/>
        </p:spPr>
        <p:txBody>
          <a:bodyPr wrap="square" lIns="0" tIns="0" rIns="0" bIns="0" rtlCol="0" anchor="t"/>
          <a:lstStyle/>
          <a:p>
            <a:pPr indent="0" marL="0">
              <a:buNone/>
            </a:pPr>
            <a:r>
              <a:rPr lang="en-US" sz="1400" dirty="0">
                <a:solidFill>
                  <a:schemeClr val="tx2"/>
                </a:solidFill>
              </a:rPr>
              <a:t>more maize per hectare on large-scale farms</a:t>
            </a:r>
            <a:endParaRPr lang="en-US" sz="1400" dirty="0"/>
          </a:p>
        </p:txBody>
      </p:sp>
      <p:sp>
        <p:nvSpPr>
          <p:cNvPr id="6" name="Text 3"/>
          <p:cNvSpPr txBox="1"/>
          <p:nvPr/>
        </p:nvSpPr>
        <p:spPr>
          <a:xfrm>
            <a:off x="6035040" y="2743200"/>
            <a:ext cx="2651760" cy="731520"/>
          </a:xfrm>
          <a:prstGeom prst="rect">
            <a:avLst/>
          </a:prstGeom>
          <a:noFill/>
          <a:ln/>
        </p:spPr>
        <p:txBody>
          <a:bodyPr wrap="square" lIns="0" tIns="0" rIns="0" bIns="0" rtlCol="0" anchor="ctr"/>
          <a:lstStyle/>
          <a:p>
            <a:pPr indent="0" marL="0">
              <a:buNone/>
            </a:pPr>
            <a:r>
              <a:rPr lang="en-US" sz="4800" b="1" dirty="0">
                <a:solidFill>
                  <a:schemeClr val="accent3"/>
                </a:solidFill>
                <a:latin typeface="+mj-lt" pitchFamily="34" charset="0"/>
                <a:ea typeface="+mj-lt" pitchFamily="34" charset="-122"/>
                <a:cs typeface="+mj-lt" pitchFamily="34" charset="-120"/>
              </a:rPr>
              <a:t>2.1×</a:t>
            </a:r>
            <a:endParaRPr lang="en-US" sz="4800" dirty="0"/>
          </a:p>
        </p:txBody>
      </p:sp>
      <p:sp>
        <p:nvSpPr>
          <p:cNvPr id="7" name="Text 4"/>
          <p:cNvSpPr txBox="1"/>
          <p:nvPr/>
        </p:nvSpPr>
        <p:spPr>
          <a:xfrm>
            <a:off x="6035040" y="3474720"/>
            <a:ext cx="2651760" cy="640080"/>
          </a:xfrm>
          <a:prstGeom prst="rect">
            <a:avLst/>
          </a:prstGeom>
          <a:noFill/>
          <a:ln/>
        </p:spPr>
        <p:txBody>
          <a:bodyPr wrap="square" lIns="0" tIns="0" rIns="0" bIns="0" rtlCol="0" anchor="t"/>
          <a:lstStyle/>
          <a:p>
            <a:pPr indent="0" marL="0">
              <a:buNone/>
            </a:pPr>
            <a:r>
              <a:rPr lang="en-US" sz="1400" dirty="0">
                <a:solidFill>
                  <a:schemeClr val="tx2"/>
                </a:solidFill>
              </a:rPr>
              <a:t>more Irish potato per hectare in Season B</a:t>
            </a:r>
            <a:endParaRPr lang="en-US" sz="1400" dirty="0"/>
          </a:p>
        </p:txBody>
      </p:sp>
      <p:sp>
        <p:nvSpPr>
          <p:cNvPr id="8" name="Text 5"/>
          <p:cNvSpPr txBox="1"/>
          <p:nvPr/>
        </p:nvSpPr>
        <p:spPr>
          <a:xfrm>
            <a:off x="6035040" y="4160520"/>
            <a:ext cx="2651760" cy="365760"/>
          </a:xfrm>
          <a:prstGeom prst="rect">
            <a:avLst/>
          </a:prstGeom>
          <a:noFill/>
          <a:ln/>
        </p:spPr>
        <p:txBody>
          <a:bodyPr wrap="square" lIns="0" tIns="0" rIns="0" bIns="0" rtlCol="0" anchor="ctr"/>
          <a:lstStyle/>
          <a:p>
            <a:pPr indent="0" marL="0">
              <a:buNone/>
            </a:pPr>
            <a:r>
              <a:rPr lang="en-US" sz="1200" i="1" dirty="0">
                <a:solidFill>
                  <a:schemeClr val="accent4"/>
                </a:solidFill>
              </a:rPr>
              <a:t>Differences, not causes.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Three seasons, one year</a:t>
            </a:r>
            <a:endParaRPr lang="en-US" sz="3600" dirty="0"/>
          </a:p>
        </p:txBody>
      </p:sp>
      <p:graphicFrame>
        <p:nvGraphicFramePr>
          <p:cNvPr id="3" name="Season chart" descr=""/>
          <p:cNvGraphicFramePr/>
          <p:nvPr/>
        </p:nvGraphicFramePr>
        <p:xfrm>
          <a:off x="3291840" y="114300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1280160"/>
            <a:ext cx="2560320" cy="3108960"/>
          </a:xfrm>
          <a:prstGeom prst="rect">
            <a:avLst/>
          </a:prstGeom>
          <a:noFill/>
          <a:ln/>
        </p:spPr>
        <p:txBody>
          <a:bodyPr wrap="square" lIns="0" tIns="0" rIns="0" bIns="0" rtlCol="0" anchor="t"/>
          <a:lstStyle/>
          <a:p>
            <a:pPr indent="0" marL="0">
              <a:buNone/>
            </a:pPr>
            <a:r>
              <a:rPr lang="en-US" sz="1500" b="1" dirty="0">
                <a:solidFill>
                  <a:schemeClr val="tx1"/>
                </a:solidFill>
              </a:rPr>
              <a:t>Improved seed use halves</a:t>
            </a:r>
            <a:endParaRPr lang="en-US" sz="1500" dirty="0"/>
          </a:p>
          <a:p>
            <a:pPr indent="0" marL="0">
              <a:buNone/>
            </a:pPr>
            <a:r>
              <a:rPr lang="en-US" sz="1500" dirty="0">
                <a:solidFill>
                  <a:schemeClr val="tx2"/>
                </a:solidFill>
              </a:rPr>
              <a:t>from 37.3% in Season A to 18% in Season B.</a:t>
            </a:r>
            <a:endParaRPr lang="en-US" sz="1500" dirty="0"/>
          </a:p>
          <a:p>
            <a:pPr indent="0" marL="0">
              <a:buNone/>
            </a:pPr>
            <a:r>
              <a:rPr lang="en-US" sz="800" dirty="0">
                <a:solidFill>
                  <a:schemeClr val="tx2"/>
                </a:solidFill>
              </a:rPr>
              <a:t> </a:t>
            </a:r>
            <a:endParaRPr lang="en-US" sz="1500" dirty="0"/>
          </a:p>
          <a:p>
            <a:pPr indent="0" marL="0">
              <a:buNone/>
            </a:pPr>
            <a:r>
              <a:rPr lang="en-US" sz="1500" b="1" dirty="0">
                <a:solidFill>
                  <a:schemeClr val="tx1"/>
                </a:solidFill>
              </a:rPr>
              <a:t>Pesticides peak in Season C</a:t>
            </a:r>
            <a:endParaRPr lang="en-US" sz="1500" dirty="0"/>
          </a:p>
          <a:p>
            <a:pPr indent="0" marL="0">
              <a:buNone/>
            </a:pPr>
            <a:r>
              <a:rPr lang="en-US" sz="1500" dirty="0">
                <a:solidFill>
                  <a:schemeClr val="tx2"/>
                </a:solidFill>
              </a:rPr>
              <a:t>at 67%: the short season of potatoes and vegetables in swamps and the volcanic zone.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What came out of the ground</a:t>
            </a:r>
            <a:endParaRPr lang="en-US" sz="3600" dirty="0"/>
          </a:p>
        </p:txBody>
      </p:sp>
      <p:sp>
        <p:nvSpPr>
          <p:cNvPr id="3" name="Shape 1"/>
          <p:cNvSpPr/>
          <p:nvPr/>
        </p:nvSpPr>
        <p:spPr>
          <a:xfrm>
            <a:off x="457200" y="1234440"/>
            <a:ext cx="1920240" cy="2194560"/>
          </a:xfrm>
          <a:prstGeom prst="rect">
            <a:avLst/>
          </a:prstGeom>
          <a:solidFill>
            <a:schemeClr val="bg2"/>
          </a:solidFill>
          <a:ln w="12700">
            <a:solidFill>
              <a:schemeClr val="bg2"/>
            </a:solidFill>
            <a:prstDash val="solid"/>
          </a:ln>
        </p:spPr>
      </p:sp>
      <p:sp>
        <p:nvSpPr>
          <p:cNvPr id="4" name="Text 2"/>
          <p:cNvSpPr txBox="1"/>
          <p:nvPr/>
        </p:nvSpPr>
        <p:spPr>
          <a:xfrm>
            <a:off x="640080" y="1371600"/>
            <a:ext cx="1554480" cy="365760"/>
          </a:xfrm>
          <a:prstGeom prst="rect">
            <a:avLst/>
          </a:prstGeom>
          <a:noFill/>
          <a:ln/>
        </p:spPr>
        <p:txBody>
          <a:bodyPr wrap="square" lIns="0" tIns="0" rIns="0" bIns="0" rtlCol="0" anchor="ctr"/>
          <a:lstStyle/>
          <a:p>
            <a:pPr indent="0" marL="0">
              <a:buNone/>
            </a:pPr>
            <a:r>
              <a:rPr lang="en-US" sz="1600" b="1" dirty="0">
                <a:solidFill>
                  <a:schemeClr val="tx1"/>
                </a:solidFill>
              </a:rPr>
              <a:t>Cassava</a:t>
            </a:r>
            <a:endParaRPr lang="en-US" sz="1600" dirty="0"/>
          </a:p>
        </p:txBody>
      </p:sp>
      <p:sp>
        <p:nvSpPr>
          <p:cNvPr id="5" name="Text 3"/>
          <p:cNvSpPr txBox="1"/>
          <p:nvPr/>
        </p:nvSpPr>
        <p:spPr>
          <a:xfrm>
            <a:off x="640080" y="1828800"/>
            <a:ext cx="1645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852,541 t</a:t>
            </a:r>
            <a:endParaRPr lang="en-US" sz="2400" dirty="0"/>
          </a:p>
        </p:txBody>
      </p:sp>
      <p:sp>
        <p:nvSpPr>
          <p:cNvPr id="6" name="Text 4"/>
          <p:cNvSpPr txBox="1"/>
          <p:nvPr/>
        </p:nvSpPr>
        <p:spPr>
          <a:xfrm>
            <a:off x="640080" y="2377440"/>
            <a:ext cx="1554480" cy="320040"/>
          </a:xfrm>
          <a:prstGeom prst="rect">
            <a:avLst/>
          </a:prstGeom>
          <a:noFill/>
          <a:ln/>
        </p:spPr>
        <p:txBody>
          <a:bodyPr wrap="square" lIns="0" tIns="0" rIns="0" bIns="0" rtlCol="0" anchor="ctr"/>
          <a:lstStyle/>
          <a:p>
            <a:pPr indent="0" marL="0">
              <a:buNone/>
            </a:pPr>
            <a:r>
              <a:rPr lang="en-US" sz="1200" dirty="0">
                <a:solidFill>
                  <a:schemeClr val="accent4"/>
                </a:solidFill>
              </a:rPr>
              <a:t>Season B</a:t>
            </a:r>
            <a:endParaRPr lang="en-US" sz="1200" dirty="0"/>
          </a:p>
        </p:txBody>
      </p:sp>
      <p:sp>
        <p:nvSpPr>
          <p:cNvPr id="7" name="Text 5"/>
          <p:cNvSpPr txBox="1"/>
          <p:nvPr/>
        </p:nvSpPr>
        <p:spPr>
          <a:xfrm>
            <a:off x="640080" y="2834640"/>
            <a:ext cx="1554480" cy="411480"/>
          </a:xfrm>
          <a:prstGeom prst="rect">
            <a:avLst/>
          </a:prstGeom>
          <a:noFill/>
          <a:ln/>
        </p:spPr>
        <p:txBody>
          <a:bodyPr wrap="square" lIns="0" tIns="0" rIns="0" bIns="0" rtlCol="0" anchor="ctr"/>
          <a:lstStyle/>
          <a:p>
            <a:pPr indent="0" marL="0">
              <a:buNone/>
            </a:pPr>
            <a:r>
              <a:rPr lang="en-US" sz="1800" b="1" dirty="0">
                <a:solidFill>
                  <a:schemeClr val="accent1"/>
                </a:solidFill>
              </a:rPr>
              <a:t>+8.8% vs 2024</a:t>
            </a:r>
            <a:endParaRPr lang="en-US" sz="1800" dirty="0"/>
          </a:p>
        </p:txBody>
      </p:sp>
      <p:sp>
        <p:nvSpPr>
          <p:cNvPr id="8" name="Shape 6"/>
          <p:cNvSpPr/>
          <p:nvPr/>
        </p:nvSpPr>
        <p:spPr>
          <a:xfrm>
            <a:off x="2560320" y="1234440"/>
            <a:ext cx="1920240" cy="2194560"/>
          </a:xfrm>
          <a:prstGeom prst="rect">
            <a:avLst/>
          </a:prstGeom>
          <a:solidFill>
            <a:schemeClr val="bg2"/>
          </a:solidFill>
          <a:ln w="12700">
            <a:solidFill>
              <a:schemeClr val="bg2"/>
            </a:solidFill>
            <a:prstDash val="solid"/>
          </a:ln>
        </p:spPr>
      </p:sp>
      <p:sp>
        <p:nvSpPr>
          <p:cNvPr id="9" name="Text 7"/>
          <p:cNvSpPr txBox="1"/>
          <p:nvPr/>
        </p:nvSpPr>
        <p:spPr>
          <a:xfrm>
            <a:off x="2743200" y="1371600"/>
            <a:ext cx="1554480" cy="365760"/>
          </a:xfrm>
          <a:prstGeom prst="rect">
            <a:avLst/>
          </a:prstGeom>
          <a:noFill/>
          <a:ln/>
        </p:spPr>
        <p:txBody>
          <a:bodyPr wrap="square" lIns="0" tIns="0" rIns="0" bIns="0" rtlCol="0" anchor="ctr"/>
          <a:lstStyle/>
          <a:p>
            <a:pPr indent="0" marL="0">
              <a:buNone/>
            </a:pPr>
            <a:r>
              <a:rPr lang="en-US" sz="1600" b="1" dirty="0">
                <a:solidFill>
                  <a:schemeClr val="tx1"/>
                </a:solidFill>
              </a:rPr>
              <a:t>Sweet potato</a:t>
            </a:r>
            <a:endParaRPr lang="en-US" sz="1600" dirty="0"/>
          </a:p>
        </p:txBody>
      </p:sp>
      <p:sp>
        <p:nvSpPr>
          <p:cNvPr id="10" name="Text 8"/>
          <p:cNvSpPr txBox="1"/>
          <p:nvPr/>
        </p:nvSpPr>
        <p:spPr>
          <a:xfrm>
            <a:off x="2743200" y="1828800"/>
            <a:ext cx="1645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652,515 t</a:t>
            </a:r>
            <a:endParaRPr lang="en-US" sz="2400" dirty="0"/>
          </a:p>
        </p:txBody>
      </p:sp>
      <p:sp>
        <p:nvSpPr>
          <p:cNvPr id="11" name="Text 9"/>
          <p:cNvSpPr txBox="1"/>
          <p:nvPr/>
        </p:nvSpPr>
        <p:spPr>
          <a:xfrm>
            <a:off x="2743200" y="2377440"/>
            <a:ext cx="1554480" cy="320040"/>
          </a:xfrm>
          <a:prstGeom prst="rect">
            <a:avLst/>
          </a:prstGeom>
          <a:noFill/>
          <a:ln/>
        </p:spPr>
        <p:txBody>
          <a:bodyPr wrap="square" lIns="0" tIns="0" rIns="0" bIns="0" rtlCol="0" anchor="ctr"/>
          <a:lstStyle/>
          <a:p>
            <a:pPr indent="0" marL="0">
              <a:buNone/>
            </a:pPr>
            <a:r>
              <a:rPr lang="en-US" sz="1200" dirty="0">
                <a:solidFill>
                  <a:schemeClr val="accent4"/>
                </a:solidFill>
              </a:rPr>
              <a:t>Season B</a:t>
            </a:r>
            <a:endParaRPr lang="en-US" sz="1200" dirty="0"/>
          </a:p>
        </p:txBody>
      </p:sp>
      <p:sp>
        <p:nvSpPr>
          <p:cNvPr id="12" name="Text 10"/>
          <p:cNvSpPr txBox="1"/>
          <p:nvPr/>
        </p:nvSpPr>
        <p:spPr>
          <a:xfrm>
            <a:off x="2743200" y="2834640"/>
            <a:ext cx="1554480" cy="411480"/>
          </a:xfrm>
          <a:prstGeom prst="rect">
            <a:avLst/>
          </a:prstGeom>
          <a:noFill/>
          <a:ln/>
        </p:spPr>
        <p:txBody>
          <a:bodyPr wrap="square" lIns="0" tIns="0" rIns="0" bIns="0" rtlCol="0" anchor="ctr"/>
          <a:lstStyle/>
          <a:p>
            <a:pPr indent="0" marL="0">
              <a:buNone/>
            </a:pPr>
            <a:r>
              <a:rPr lang="en-US" sz="1800" b="1" dirty="0">
                <a:solidFill>
                  <a:schemeClr val="accent3"/>
                </a:solidFill>
              </a:rPr>
              <a:t>−2.1% vs 2024</a:t>
            </a:r>
            <a:endParaRPr lang="en-US" sz="1800" dirty="0"/>
          </a:p>
        </p:txBody>
      </p:sp>
      <p:sp>
        <p:nvSpPr>
          <p:cNvPr id="13" name="Shape 11"/>
          <p:cNvSpPr/>
          <p:nvPr/>
        </p:nvSpPr>
        <p:spPr>
          <a:xfrm>
            <a:off x="4663440" y="1234440"/>
            <a:ext cx="1920240" cy="2194560"/>
          </a:xfrm>
          <a:prstGeom prst="rect">
            <a:avLst/>
          </a:prstGeom>
          <a:solidFill>
            <a:schemeClr val="bg2"/>
          </a:solidFill>
          <a:ln w="12700">
            <a:solidFill>
              <a:schemeClr val="bg2"/>
            </a:solidFill>
            <a:prstDash val="solid"/>
          </a:ln>
        </p:spPr>
      </p:sp>
      <p:sp>
        <p:nvSpPr>
          <p:cNvPr id="14" name="Text 12"/>
          <p:cNvSpPr txBox="1"/>
          <p:nvPr/>
        </p:nvSpPr>
        <p:spPr>
          <a:xfrm>
            <a:off x="4846320" y="1371600"/>
            <a:ext cx="1554480" cy="365760"/>
          </a:xfrm>
          <a:prstGeom prst="rect">
            <a:avLst/>
          </a:prstGeom>
          <a:noFill/>
          <a:ln/>
        </p:spPr>
        <p:txBody>
          <a:bodyPr wrap="square" lIns="0" tIns="0" rIns="0" bIns="0" rtlCol="0" anchor="ctr"/>
          <a:lstStyle/>
          <a:p>
            <a:pPr indent="0" marL="0">
              <a:buNone/>
            </a:pPr>
            <a:r>
              <a:rPr lang="en-US" sz="1600" b="1" dirty="0">
                <a:solidFill>
                  <a:schemeClr val="tx1"/>
                </a:solidFill>
              </a:rPr>
              <a:t>Maize</a:t>
            </a:r>
            <a:endParaRPr lang="en-US" sz="1600" dirty="0"/>
          </a:p>
        </p:txBody>
      </p:sp>
      <p:sp>
        <p:nvSpPr>
          <p:cNvPr id="15" name="Text 13"/>
          <p:cNvSpPr txBox="1"/>
          <p:nvPr/>
        </p:nvSpPr>
        <p:spPr>
          <a:xfrm>
            <a:off x="4846320" y="1828800"/>
            <a:ext cx="1645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481,246 t</a:t>
            </a:r>
            <a:endParaRPr lang="en-US" sz="2400" dirty="0"/>
          </a:p>
        </p:txBody>
      </p:sp>
      <p:sp>
        <p:nvSpPr>
          <p:cNvPr id="16" name="Text 14"/>
          <p:cNvSpPr txBox="1"/>
          <p:nvPr/>
        </p:nvSpPr>
        <p:spPr>
          <a:xfrm>
            <a:off x="4846320" y="2377440"/>
            <a:ext cx="1554480" cy="320040"/>
          </a:xfrm>
          <a:prstGeom prst="rect">
            <a:avLst/>
          </a:prstGeom>
          <a:noFill/>
          <a:ln/>
        </p:spPr>
        <p:txBody>
          <a:bodyPr wrap="square" lIns="0" tIns="0" rIns="0" bIns="0" rtlCol="0" anchor="ctr"/>
          <a:lstStyle/>
          <a:p>
            <a:pPr indent="0" marL="0">
              <a:buNone/>
            </a:pPr>
            <a:r>
              <a:rPr lang="en-US" sz="1200" dirty="0">
                <a:solidFill>
                  <a:schemeClr val="accent4"/>
                </a:solidFill>
              </a:rPr>
              <a:t>Season A</a:t>
            </a:r>
            <a:endParaRPr lang="en-US" sz="1200" dirty="0"/>
          </a:p>
        </p:txBody>
      </p:sp>
      <p:sp>
        <p:nvSpPr>
          <p:cNvPr id="17" name="Text 15"/>
          <p:cNvSpPr txBox="1"/>
          <p:nvPr/>
        </p:nvSpPr>
        <p:spPr>
          <a:xfrm>
            <a:off x="4846320" y="2834640"/>
            <a:ext cx="1554480" cy="411480"/>
          </a:xfrm>
          <a:prstGeom prst="rect">
            <a:avLst/>
          </a:prstGeom>
          <a:noFill/>
          <a:ln/>
        </p:spPr>
        <p:txBody>
          <a:bodyPr wrap="square" lIns="0" tIns="0" rIns="0" bIns="0" rtlCol="0" anchor="ctr"/>
          <a:lstStyle/>
          <a:p>
            <a:pPr indent="0" marL="0">
              <a:buNone/>
            </a:pPr>
            <a:r>
              <a:rPr lang="en-US" sz="1800" b="1" dirty="0">
                <a:solidFill>
                  <a:schemeClr val="accent3"/>
                </a:solidFill>
              </a:rPr>
              <a:t>−5.3% vs 2024</a:t>
            </a:r>
            <a:endParaRPr lang="en-US" sz="1800" dirty="0"/>
          </a:p>
        </p:txBody>
      </p:sp>
      <p:sp>
        <p:nvSpPr>
          <p:cNvPr id="18" name="Shape 16"/>
          <p:cNvSpPr/>
          <p:nvPr/>
        </p:nvSpPr>
        <p:spPr>
          <a:xfrm>
            <a:off x="6766560" y="1234440"/>
            <a:ext cx="1920240" cy="2194560"/>
          </a:xfrm>
          <a:prstGeom prst="rect">
            <a:avLst/>
          </a:prstGeom>
          <a:solidFill>
            <a:schemeClr val="bg2"/>
          </a:solidFill>
          <a:ln w="12700">
            <a:solidFill>
              <a:schemeClr val="bg2"/>
            </a:solidFill>
            <a:prstDash val="solid"/>
          </a:ln>
        </p:spPr>
      </p:sp>
      <p:sp>
        <p:nvSpPr>
          <p:cNvPr id="19" name="Text 17"/>
          <p:cNvSpPr txBox="1"/>
          <p:nvPr/>
        </p:nvSpPr>
        <p:spPr>
          <a:xfrm>
            <a:off x="6949440" y="1371600"/>
            <a:ext cx="1554480" cy="365760"/>
          </a:xfrm>
          <a:prstGeom prst="rect">
            <a:avLst/>
          </a:prstGeom>
          <a:noFill/>
          <a:ln/>
        </p:spPr>
        <p:txBody>
          <a:bodyPr wrap="square" lIns="0" tIns="0" rIns="0" bIns="0" rtlCol="0" anchor="ctr"/>
          <a:lstStyle/>
          <a:p>
            <a:pPr indent="0" marL="0">
              <a:buNone/>
            </a:pPr>
            <a:r>
              <a:rPr lang="en-US" sz="1600" b="1" dirty="0">
                <a:solidFill>
                  <a:schemeClr val="tx1"/>
                </a:solidFill>
              </a:rPr>
              <a:t>Irish potato</a:t>
            </a:r>
            <a:endParaRPr lang="en-US" sz="1600" dirty="0"/>
          </a:p>
        </p:txBody>
      </p:sp>
      <p:sp>
        <p:nvSpPr>
          <p:cNvPr id="20" name="Text 18"/>
          <p:cNvSpPr txBox="1"/>
          <p:nvPr/>
        </p:nvSpPr>
        <p:spPr>
          <a:xfrm>
            <a:off x="6949440" y="1828800"/>
            <a:ext cx="1645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475,785 t</a:t>
            </a:r>
            <a:endParaRPr lang="en-US" sz="2400" dirty="0"/>
          </a:p>
        </p:txBody>
      </p:sp>
      <p:sp>
        <p:nvSpPr>
          <p:cNvPr id="21" name="Text 19"/>
          <p:cNvSpPr txBox="1"/>
          <p:nvPr/>
        </p:nvSpPr>
        <p:spPr>
          <a:xfrm>
            <a:off x="6949440" y="2377440"/>
            <a:ext cx="1554480" cy="320040"/>
          </a:xfrm>
          <a:prstGeom prst="rect">
            <a:avLst/>
          </a:prstGeom>
          <a:noFill/>
          <a:ln/>
        </p:spPr>
        <p:txBody>
          <a:bodyPr wrap="square" lIns="0" tIns="0" rIns="0" bIns="0" rtlCol="0" anchor="ctr"/>
          <a:lstStyle/>
          <a:p>
            <a:pPr indent="0" marL="0">
              <a:buNone/>
            </a:pPr>
            <a:r>
              <a:rPr lang="en-US" sz="1200" dirty="0">
                <a:solidFill>
                  <a:schemeClr val="accent4"/>
                </a:solidFill>
              </a:rPr>
              <a:t>Season A</a:t>
            </a:r>
            <a:endParaRPr lang="en-US" sz="1200" dirty="0"/>
          </a:p>
        </p:txBody>
      </p:sp>
      <p:sp>
        <p:nvSpPr>
          <p:cNvPr id="22" name="Text 20"/>
          <p:cNvSpPr txBox="1"/>
          <p:nvPr/>
        </p:nvSpPr>
        <p:spPr>
          <a:xfrm>
            <a:off x="6949440" y="2834640"/>
            <a:ext cx="1554480" cy="411480"/>
          </a:xfrm>
          <a:prstGeom prst="rect">
            <a:avLst/>
          </a:prstGeom>
          <a:noFill/>
          <a:ln/>
        </p:spPr>
        <p:txBody>
          <a:bodyPr wrap="square" lIns="0" tIns="0" rIns="0" bIns="0" rtlCol="0" anchor="ctr"/>
          <a:lstStyle/>
          <a:p>
            <a:pPr indent="0" marL="0">
              <a:buNone/>
            </a:pPr>
            <a:r>
              <a:rPr lang="en-US" sz="1800" b="1" dirty="0">
                <a:solidFill>
                  <a:schemeClr val="accent1"/>
                </a:solidFill>
              </a:rPr>
              <a:t>+3.2% vs 2024</a:t>
            </a:r>
            <a:endParaRPr lang="en-US" sz="1800" dirty="0"/>
          </a:p>
        </p:txBody>
      </p:sp>
      <p:sp>
        <p:nvSpPr>
          <p:cNvPr id="23" name="Text 21"/>
          <p:cNvSpPr txBox="1"/>
          <p:nvPr/>
        </p:nvSpPr>
        <p:spPr>
          <a:xfrm>
            <a:off x="457200" y="3749040"/>
            <a:ext cx="8229600" cy="548640"/>
          </a:xfrm>
          <a:prstGeom prst="rect">
            <a:avLst/>
          </a:prstGeom>
          <a:noFill/>
          <a:ln/>
        </p:spPr>
        <p:txBody>
          <a:bodyPr wrap="square" lIns="0" tIns="0" rIns="0" bIns="0" rtlCol="0" anchor="ctr"/>
          <a:lstStyle/>
          <a:p>
            <a:pPr indent="0" marL="0">
              <a:buNone/>
            </a:pPr>
            <a:r>
              <a:rPr lang="en-US" sz="1500" dirty="0">
                <a:solidFill>
                  <a:schemeClr val="tx2"/>
                </a:solidFill>
              </a:rPr>
              <a:t>Top maize districts are all in the Eastern Province: Nyagatare, Gatsibo, Kirehe and Kayonza.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Two infographics, one story</a:t>
            </a:r>
            <a:endParaRPr lang="en-US" sz="3600" dirty="0"/>
          </a:p>
        </p:txBody>
      </p:sp>
      <p:sp>
        <p:nvSpPr>
          <p:cNvPr id="3" name="Shape 1"/>
          <p:cNvSpPr/>
          <p:nvPr/>
        </p:nvSpPr>
        <p:spPr>
          <a:xfrm>
            <a:off x="457200" y="1188720"/>
            <a:ext cx="4023360" cy="3291840"/>
          </a:xfrm>
          <a:prstGeom prst="rect">
            <a:avLst/>
          </a:prstGeom>
          <a:solidFill>
            <a:schemeClr val="bg2"/>
          </a:solidFill>
          <a:ln w="12700">
            <a:solidFill>
              <a:schemeClr val="bg2"/>
            </a:solidFill>
            <a:prstDash val="solid"/>
          </a:ln>
        </p:spPr>
      </p:sp>
      <p:sp>
        <p:nvSpPr>
          <p:cNvPr id="4" name="Shape 2"/>
          <p:cNvSpPr/>
          <p:nvPr/>
        </p:nvSpPr>
        <p:spPr>
          <a:xfrm>
            <a:off x="731520" y="141732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86968" y="1572768"/>
            <a:ext cx="329184" cy="329184"/>
          </a:xfrm>
          <a:prstGeom prst="rect">
            <a:avLst/>
          </a:prstGeom>
        </p:spPr>
      </p:pic>
      <p:sp>
        <p:nvSpPr>
          <p:cNvPr id="6" name="Text 3"/>
          <p:cNvSpPr txBox="1"/>
          <p:nvPr/>
        </p:nvSpPr>
        <p:spPr>
          <a:xfrm>
            <a:off x="1554480" y="1463040"/>
            <a:ext cx="2743200" cy="54864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Static poster</a:t>
            </a:r>
            <a:endParaRPr lang="en-US" sz="2200" dirty="0"/>
          </a:p>
        </p:txBody>
      </p:sp>
      <p:sp>
        <p:nvSpPr>
          <p:cNvPr id="7" name="Text 4"/>
          <p:cNvSpPr txBox="1"/>
          <p:nvPr/>
        </p:nvSpPr>
        <p:spPr>
          <a:xfrm>
            <a:off x="731520" y="2286000"/>
            <a:ext cx="356616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Kinyarwanda, English and French</a:t>
            </a:r>
            <a:endParaRPr lang="en-US" sz="1500" dirty="0"/>
          </a:p>
          <a:p>
            <a:pPr marL="342900" indent="-342900">
              <a:spcAft>
                <a:spcPts val="600"/>
              </a:spcAft>
              <a:buSzPct val="100000"/>
              <a:buChar char="•"/>
            </a:pPr>
            <a:r>
              <a:rPr lang="en-US" sz="1500" dirty="0">
                <a:solidFill>
                  <a:schemeClr val="tx2"/>
                </a:solidFill>
              </a:rPr>
              <a:t>Input gap, yield gap, seasons, production</a:t>
            </a:r>
            <a:endParaRPr lang="en-US" sz="1500" dirty="0"/>
          </a:p>
          <a:p>
            <a:pPr marL="342900" indent="-342900">
              <a:spcAft>
                <a:spcPts val="600"/>
              </a:spcAft>
              <a:buSzPct val="100000"/>
              <a:buChar char="•"/>
            </a:pPr>
            <a:r>
              <a:rPr lang="en-US" sz="1500" dirty="0">
                <a:solidFill>
                  <a:schemeClr val="tx2"/>
                </a:solidFill>
              </a:rPr>
              <a:t>QR code to the interactive version</a:t>
            </a:r>
            <a:endParaRPr lang="en-US" sz="1500" dirty="0"/>
          </a:p>
          <a:p>
            <a:pPr marL="342900" indent="-342900">
              <a:spcAft>
                <a:spcPts val="600"/>
              </a:spcAft>
              <a:buSzPct val="100000"/>
              <a:buChar char="•"/>
            </a:pPr>
            <a:r>
              <a:rPr lang="en-US" sz="1500" dirty="0">
                <a:solidFill>
                  <a:schemeClr val="tx2"/>
                </a:solidFill>
              </a:rPr>
              <a:t>Exports as PDF or PNG</a:t>
            </a:r>
            <a:endParaRPr lang="en-US" sz="1500" dirty="0"/>
          </a:p>
        </p:txBody>
      </p:sp>
      <p:sp>
        <p:nvSpPr>
          <p:cNvPr id="8" name="Shape 5"/>
          <p:cNvSpPr/>
          <p:nvPr/>
        </p:nvSpPr>
        <p:spPr>
          <a:xfrm>
            <a:off x="4663440" y="1188720"/>
            <a:ext cx="4023360" cy="3291840"/>
          </a:xfrm>
          <a:prstGeom prst="rect">
            <a:avLst/>
          </a:prstGeom>
          <a:solidFill>
            <a:schemeClr val="bg2"/>
          </a:solidFill>
          <a:ln w="12700">
            <a:solidFill>
              <a:schemeClr val="bg2"/>
            </a:solidFill>
            <a:prstDash val="solid"/>
          </a:ln>
        </p:spPr>
      </p:sp>
      <p:sp>
        <p:nvSpPr>
          <p:cNvPr id="9" name="Shape 6"/>
          <p:cNvSpPr/>
          <p:nvPr/>
        </p:nvSpPr>
        <p:spPr>
          <a:xfrm>
            <a:off x="4937760" y="1417320"/>
            <a:ext cx="640080" cy="64008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5093208" y="1572768"/>
            <a:ext cx="329184" cy="329184"/>
          </a:xfrm>
          <a:prstGeom prst="rect">
            <a:avLst/>
          </a:prstGeom>
        </p:spPr>
      </p:pic>
      <p:sp>
        <p:nvSpPr>
          <p:cNvPr id="11" name="Text 7"/>
          <p:cNvSpPr txBox="1"/>
          <p:nvPr/>
        </p:nvSpPr>
        <p:spPr>
          <a:xfrm>
            <a:off x="5760720" y="1463040"/>
            <a:ext cx="2743200" cy="54864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Dynamic page</a:t>
            </a:r>
            <a:endParaRPr lang="en-US" sz="2200" dirty="0"/>
          </a:p>
        </p:txBody>
      </p:sp>
      <p:sp>
        <p:nvSpPr>
          <p:cNvPr id="12" name="Text 8"/>
          <p:cNvSpPr txBox="1"/>
          <p:nvPr/>
        </p:nvSpPr>
        <p:spPr>
          <a:xfrm>
            <a:off x="4937760" y="2286000"/>
            <a:ext cx="356616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Season and crop switches</a:t>
            </a:r>
            <a:endParaRPr lang="en-US" sz="1500" dirty="0"/>
          </a:p>
          <a:p>
            <a:pPr marL="342900" indent="-342900">
              <a:spcAft>
                <a:spcPts val="600"/>
              </a:spcAft>
              <a:buSzPct val="100000"/>
              <a:buChar char="•"/>
            </a:pPr>
            <a:r>
              <a:rPr lang="en-US" sz="1500" dirty="0">
                <a:solidFill>
                  <a:schemeClr val="tx2"/>
                </a:solidFill>
              </a:rPr>
              <a:t>District map and season wheel</a:t>
            </a:r>
            <a:endParaRPr lang="en-US" sz="1500" dirty="0"/>
          </a:p>
          <a:p>
            <a:pPr marL="342900" indent="-342900">
              <a:spcAft>
                <a:spcPts val="600"/>
              </a:spcAft>
              <a:buSzPct val="100000"/>
              <a:buChar char="•"/>
            </a:pPr>
            <a:r>
              <a:rPr lang="en-US" sz="1500" dirty="0">
                <a:solidFill>
                  <a:schemeClr val="tx2"/>
                </a:solidFill>
              </a:rPr>
              <a:t>Farm calculator and narration</a:t>
            </a:r>
            <a:endParaRPr lang="en-US" sz="1500" dirty="0"/>
          </a:p>
          <a:p>
            <a:pPr marL="342900" indent="-342900">
              <a:spcAft>
                <a:spcPts val="600"/>
              </a:spcAft>
              <a:buSzPct val="100000"/>
              <a:buChar char="•"/>
            </a:pPr>
            <a:r>
              <a:rPr lang="en-US" sz="1500" dirty="0">
                <a:solidFill>
                  <a:schemeClr val="tx2"/>
                </a:solidFill>
              </a:rPr>
              <a:t>AI assistant limited to report data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Live demo</a:t>
            </a:r>
            <a:endParaRPr lang="en-US" sz="3600" dirty="0"/>
          </a:p>
        </p:txBody>
      </p:sp>
      <p:sp>
        <p:nvSpPr>
          <p:cNvPr id="3" name="Shape 1"/>
          <p:cNvSpPr/>
          <p:nvPr/>
        </p:nvSpPr>
        <p:spPr>
          <a:xfrm>
            <a:off x="457200" y="118872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188720"/>
            <a:ext cx="4754880" cy="457200"/>
          </a:xfrm>
          <a:prstGeom prst="rect">
            <a:avLst/>
          </a:prstGeom>
          <a:noFill/>
          <a:ln/>
        </p:spPr>
        <p:txBody>
          <a:bodyPr wrap="square" lIns="0" tIns="0" rIns="0" bIns="0" rtlCol="0" anchor="ctr"/>
          <a:lstStyle/>
          <a:p>
            <a:pPr indent="0" marL="0">
              <a:buNone/>
            </a:pPr>
            <a:r>
              <a:rPr lang="en-US" sz="1600" dirty="0">
                <a:solidFill>
                  <a:schemeClr val="tx1"/>
                </a:solidFill>
              </a:rPr>
              <a:t>Switch the page to Kinyarwanda</a:t>
            </a:r>
            <a:endParaRPr lang="en-US" sz="1600" dirty="0"/>
          </a:p>
        </p:txBody>
      </p:sp>
      <p:sp>
        <p:nvSpPr>
          <p:cNvPr id="6" name="Shape 4"/>
          <p:cNvSpPr/>
          <p:nvPr/>
        </p:nvSpPr>
        <p:spPr>
          <a:xfrm>
            <a:off x="457200" y="184708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097280" y="1847088"/>
            <a:ext cx="4754880" cy="457200"/>
          </a:xfrm>
          <a:prstGeom prst="rect">
            <a:avLst/>
          </a:prstGeom>
          <a:noFill/>
          <a:ln/>
        </p:spPr>
        <p:txBody>
          <a:bodyPr wrap="square" lIns="0" tIns="0" rIns="0" bIns="0" rtlCol="0" anchor="ctr"/>
          <a:lstStyle/>
          <a:p>
            <a:pPr indent="0" marL="0">
              <a:buNone/>
            </a:pPr>
            <a:r>
              <a:rPr lang="en-US" sz="1600" dirty="0">
                <a:solidFill>
                  <a:schemeClr val="tx1"/>
                </a:solidFill>
              </a:rPr>
              <a:t>Compare the input gap, Season A to B</a:t>
            </a:r>
            <a:endParaRPr lang="en-US" sz="1600" dirty="0"/>
          </a:p>
        </p:txBody>
      </p:sp>
      <p:sp>
        <p:nvSpPr>
          <p:cNvPr id="9" name="Shape 7"/>
          <p:cNvSpPr/>
          <p:nvPr/>
        </p:nvSpPr>
        <p:spPr>
          <a:xfrm>
            <a:off x="457200" y="2505456"/>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5054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97280" y="2505456"/>
            <a:ext cx="4754880" cy="457200"/>
          </a:xfrm>
          <a:prstGeom prst="rect">
            <a:avLst/>
          </a:prstGeom>
          <a:noFill/>
          <a:ln/>
        </p:spPr>
        <p:txBody>
          <a:bodyPr wrap="square" lIns="0" tIns="0" rIns="0" bIns="0" rtlCol="0" anchor="ctr"/>
          <a:lstStyle/>
          <a:p>
            <a:pPr indent="0" marL="0">
              <a:buNone/>
            </a:pPr>
            <a:r>
              <a:rPr lang="en-US" sz="1600" dirty="0">
                <a:solidFill>
                  <a:schemeClr val="tx1"/>
                </a:solidFill>
              </a:rPr>
              <a:t>Calculate a half-hectare maize farm</a:t>
            </a:r>
            <a:endParaRPr lang="en-US" sz="1600" dirty="0"/>
          </a:p>
        </p:txBody>
      </p:sp>
      <p:sp>
        <p:nvSpPr>
          <p:cNvPr id="12" name="Shape 10"/>
          <p:cNvSpPr/>
          <p:nvPr/>
        </p:nvSpPr>
        <p:spPr>
          <a:xfrm>
            <a:off x="457200" y="3163824"/>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163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097280" y="3163824"/>
            <a:ext cx="4754880" cy="457200"/>
          </a:xfrm>
          <a:prstGeom prst="rect">
            <a:avLst/>
          </a:prstGeom>
          <a:noFill/>
          <a:ln/>
        </p:spPr>
        <p:txBody>
          <a:bodyPr wrap="square" lIns="0" tIns="0" rIns="0" bIns="0" rtlCol="0" anchor="ctr"/>
          <a:lstStyle/>
          <a:p>
            <a:pPr indent="0" marL="0">
              <a:buNone/>
            </a:pPr>
            <a:r>
              <a:rPr lang="en-US" sz="1600" dirty="0">
                <a:solidFill>
                  <a:schemeClr val="tx1"/>
                </a:solidFill>
              </a:rPr>
              <a:t>Tap a district on the map</a:t>
            </a:r>
            <a:endParaRPr lang="en-US" sz="1600" dirty="0"/>
          </a:p>
        </p:txBody>
      </p:sp>
      <p:sp>
        <p:nvSpPr>
          <p:cNvPr id="15" name="Shape 13"/>
          <p:cNvSpPr/>
          <p:nvPr/>
        </p:nvSpPr>
        <p:spPr>
          <a:xfrm>
            <a:off x="457200" y="382219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38221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097280" y="3822192"/>
            <a:ext cx="4754880" cy="457200"/>
          </a:xfrm>
          <a:prstGeom prst="rect">
            <a:avLst/>
          </a:prstGeom>
          <a:noFill/>
          <a:ln/>
        </p:spPr>
        <p:txBody>
          <a:bodyPr wrap="square" lIns="0" tIns="0" rIns="0" bIns="0" rtlCol="0" anchor="ctr"/>
          <a:lstStyle/>
          <a:p>
            <a:pPr indent="0" marL="0">
              <a:buNone/>
            </a:pPr>
            <a:r>
              <a:rPr lang="en-US" sz="1600" dirty="0">
                <a:solidFill>
                  <a:schemeClr val="tx1"/>
                </a:solidFill>
              </a:rPr>
              <a:t>Ask the AI a question, then one it should decline</a:t>
            </a:r>
            <a:endParaRPr lang="en-US" sz="1600" dirty="0"/>
          </a:p>
        </p:txBody>
      </p:sp>
      <p:pic>
        <p:nvPicPr>
          <p:cNvPr id="18" name="Image 0" descr="QR code to the interactive infographic">    </p:cNvPr>
          <p:cNvPicPr>
            <a:picLocks noChangeAspect="1"/>
          </p:cNvPicPr>
          <p:nvPr/>
        </p:nvPicPr>
        <p:blipFill>
          <a:blip r:embed="rId1"/>
          <a:stretch>
            <a:fillRect/>
          </a:stretch>
        </p:blipFill>
        <p:spPr>
          <a:xfrm>
            <a:off x="6583680" y="1234440"/>
            <a:ext cx="2011680" cy="2011680"/>
          </a:xfrm>
          <a:prstGeom prst="rect">
            <a:avLst/>
          </a:prstGeom>
        </p:spPr>
      </p:pic>
      <p:sp>
        <p:nvSpPr>
          <p:cNvPr id="19" name="Text 16"/>
          <p:cNvSpPr txBox="1"/>
          <p:nvPr/>
        </p:nvSpPr>
        <p:spPr>
          <a:xfrm>
            <a:off x="6309360" y="3337560"/>
            <a:ext cx="2560320" cy="365760"/>
          </a:xfrm>
          <a:prstGeom prst="rect">
            <a:avLst/>
          </a:prstGeom>
          <a:noFill/>
          <a:ln/>
        </p:spPr>
        <p:txBody>
          <a:bodyPr wrap="square" lIns="0" tIns="0" rIns="0" bIns="0" rtlCol="0" anchor="ctr"/>
          <a:lstStyle/>
          <a:p>
            <a:pPr algn="ctr" indent="0" marL="0">
              <a:buNone/>
            </a:pPr>
            <a:r>
              <a:rPr lang="en-US" sz="1400" b="1" dirty="0">
                <a:solidFill>
                  <a:schemeClr val="tx1"/>
                </a:solidFill>
              </a:rPr>
              <a:t>Scan to follow along</a:t>
            </a:r>
            <a:endParaRPr lang="en-US" sz="1400" dirty="0"/>
          </a:p>
        </p:txBody>
      </p:sp>
      <p:sp>
        <p:nvSpPr>
          <p:cNvPr id="20" name="Text 17"/>
          <p:cNvSpPr txBox="1"/>
          <p:nvPr/>
        </p:nvSpPr>
        <p:spPr>
          <a:xfrm>
            <a:off x="6309360" y="3749040"/>
            <a:ext cx="2560320" cy="640080"/>
          </a:xfrm>
          <a:prstGeom prst="rect">
            <a:avLst/>
          </a:prstGeom>
          <a:noFill/>
          <a:ln/>
        </p:spPr>
        <p:txBody>
          <a:bodyPr wrap="square" lIns="0" tIns="0" rIns="0" bIns="0" rtlCol="0" anchor="t"/>
          <a:lstStyle/>
          <a:p>
            <a:pPr algn="ctr" indent="0" marL="0">
              <a:buNone/>
            </a:pPr>
            <a:r>
              <a:rPr lang="en-US" sz="1200" dirty="0">
                <a:solidFill>
                  <a:schemeClr val="accent4"/>
                </a:solidFill>
              </a:rPr>
              <a:t>Backup: the downloaded HTML file works offline, without the AI assistant.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Built to be accessible</a:t>
            </a:r>
            <a:endParaRPr lang="en-US" sz="3600" dirty="0"/>
          </a:p>
        </p:txBody>
      </p:sp>
      <p:sp>
        <p:nvSpPr>
          <p:cNvPr id="3" name="Shape 1"/>
          <p:cNvSpPr/>
          <p:nvPr/>
        </p:nvSpPr>
        <p:spPr>
          <a:xfrm>
            <a:off x="457200" y="1234440"/>
            <a:ext cx="594360" cy="59436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08076" y="1385316"/>
            <a:ext cx="292608" cy="292608"/>
          </a:xfrm>
          <a:prstGeom prst="rect">
            <a:avLst/>
          </a:prstGeom>
        </p:spPr>
      </p:pic>
      <p:sp>
        <p:nvSpPr>
          <p:cNvPr id="5" name="Text 2"/>
          <p:cNvSpPr txBox="1"/>
          <p:nvPr/>
        </p:nvSpPr>
        <p:spPr>
          <a:xfrm>
            <a:off x="1234440" y="123444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Three languages</a:t>
            </a:r>
            <a:endParaRPr lang="en-US" sz="1600" dirty="0"/>
          </a:p>
        </p:txBody>
      </p:sp>
      <p:sp>
        <p:nvSpPr>
          <p:cNvPr id="6" name="Text 3"/>
          <p:cNvSpPr txBox="1"/>
          <p:nvPr/>
        </p:nvSpPr>
        <p:spPr>
          <a:xfrm>
            <a:off x="457200" y="1965960"/>
            <a:ext cx="2606040" cy="685800"/>
          </a:xfrm>
          <a:prstGeom prst="rect">
            <a:avLst/>
          </a:prstGeom>
          <a:noFill/>
          <a:ln/>
        </p:spPr>
        <p:txBody>
          <a:bodyPr wrap="square" lIns="0" tIns="0" rIns="0" bIns="0" rtlCol="0" anchor="t"/>
          <a:lstStyle/>
          <a:p>
            <a:pPr indent="0" marL="0">
              <a:buNone/>
            </a:pPr>
            <a:r>
              <a:rPr lang="en-US" sz="1400" dirty="0">
                <a:solidFill>
                  <a:schemeClr val="tx2"/>
                </a:solidFill>
              </a:rPr>
              <a:t>Kinyarwanda, English and French</a:t>
            </a:r>
            <a:endParaRPr lang="en-US" sz="1400" dirty="0"/>
          </a:p>
        </p:txBody>
      </p:sp>
      <p:sp>
        <p:nvSpPr>
          <p:cNvPr id="7" name="Shape 4"/>
          <p:cNvSpPr/>
          <p:nvPr/>
        </p:nvSpPr>
        <p:spPr>
          <a:xfrm>
            <a:off x="3246120" y="1234440"/>
            <a:ext cx="594360" cy="59436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3396996" y="1385316"/>
            <a:ext cx="292608" cy="292608"/>
          </a:xfrm>
          <a:prstGeom prst="rect">
            <a:avLst/>
          </a:prstGeom>
        </p:spPr>
      </p:pic>
      <p:sp>
        <p:nvSpPr>
          <p:cNvPr id="9" name="Text 5"/>
          <p:cNvSpPr txBox="1"/>
          <p:nvPr/>
        </p:nvSpPr>
        <p:spPr>
          <a:xfrm>
            <a:off x="4023360" y="123444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Farm calculator</a:t>
            </a:r>
            <a:endParaRPr lang="en-US" sz="1600" dirty="0"/>
          </a:p>
        </p:txBody>
      </p:sp>
      <p:sp>
        <p:nvSpPr>
          <p:cNvPr id="10" name="Text 6"/>
          <p:cNvSpPr txBox="1"/>
          <p:nvPr/>
        </p:nvSpPr>
        <p:spPr>
          <a:xfrm>
            <a:off x="3246120" y="1965960"/>
            <a:ext cx="2606040" cy="685800"/>
          </a:xfrm>
          <a:prstGeom prst="rect">
            <a:avLst/>
          </a:prstGeom>
          <a:noFill/>
          <a:ln/>
        </p:spPr>
        <p:txBody>
          <a:bodyPr wrap="square" lIns="0" tIns="0" rIns="0" bIns="0" rtlCol="0" anchor="t"/>
          <a:lstStyle/>
          <a:p>
            <a:pPr indent="0" marL="0">
              <a:buNone/>
            </a:pPr>
            <a:r>
              <a:rPr lang="en-US" sz="1400" dirty="0">
                <a:solidFill>
                  <a:schemeClr val="tx2"/>
                </a:solidFill>
              </a:rPr>
              <a:t>Averages turned into one farm's harvest</a:t>
            </a:r>
            <a:endParaRPr lang="en-US" sz="1400" dirty="0"/>
          </a:p>
        </p:txBody>
      </p:sp>
      <p:sp>
        <p:nvSpPr>
          <p:cNvPr id="11" name="Shape 7"/>
          <p:cNvSpPr/>
          <p:nvPr/>
        </p:nvSpPr>
        <p:spPr>
          <a:xfrm>
            <a:off x="6035040" y="1234440"/>
            <a:ext cx="594360" cy="594360"/>
          </a:xfrm>
          <a:prstGeom prst="ellipse">
            <a:avLst/>
          </a:prstGeom>
          <a:solidFill>
            <a:schemeClr val="accent3"/>
          </a:solidFill>
          <a:ln w="12700">
            <a:solidFill>
              <a:schemeClr val="accent3"/>
            </a:solidFill>
            <a:prstDash val="solid"/>
          </a:ln>
        </p:spPr>
      </p:sp>
      <p:pic>
        <p:nvPicPr>
          <p:cNvPr id="12" name="Image 2" descr="preencoded.png">    </p:cNvPr>
          <p:cNvPicPr>
            <a:picLocks noChangeAspect="1"/>
          </p:cNvPicPr>
          <p:nvPr/>
        </p:nvPicPr>
        <p:blipFill>
          <a:blip r:embed="rId3"/>
          <a:stretch>
            <a:fillRect/>
          </a:stretch>
        </p:blipFill>
        <p:spPr>
          <a:xfrm>
            <a:off x="6185916" y="1385316"/>
            <a:ext cx="292608" cy="292608"/>
          </a:xfrm>
          <a:prstGeom prst="rect">
            <a:avLst/>
          </a:prstGeom>
        </p:spPr>
      </p:pic>
      <p:sp>
        <p:nvSpPr>
          <p:cNvPr id="13" name="Text 8"/>
          <p:cNvSpPr txBox="1"/>
          <p:nvPr/>
        </p:nvSpPr>
        <p:spPr>
          <a:xfrm>
            <a:off x="6812280" y="123444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District map</a:t>
            </a:r>
            <a:endParaRPr lang="en-US" sz="1600" dirty="0"/>
          </a:p>
        </p:txBody>
      </p:sp>
      <p:sp>
        <p:nvSpPr>
          <p:cNvPr id="14" name="Text 9"/>
          <p:cNvSpPr txBox="1"/>
          <p:nvPr/>
        </p:nvSpPr>
        <p:spPr>
          <a:xfrm>
            <a:off x="6035040" y="1965960"/>
            <a:ext cx="2606040" cy="685800"/>
          </a:xfrm>
          <a:prstGeom prst="rect">
            <a:avLst/>
          </a:prstGeom>
          <a:noFill/>
          <a:ln/>
        </p:spPr>
        <p:txBody>
          <a:bodyPr wrap="square" lIns="0" tIns="0" rIns="0" bIns="0" rtlCol="0" anchor="t"/>
          <a:lstStyle/>
          <a:p>
            <a:pPr indent="0" marL="0">
              <a:buNone/>
            </a:pPr>
            <a:r>
              <a:rPr lang="en-US" sz="1400" dirty="0">
                <a:solidFill>
                  <a:schemeClr val="tx2"/>
                </a:solidFill>
              </a:rPr>
              <a:t>Top producers for four crops</a:t>
            </a:r>
            <a:endParaRPr lang="en-US" sz="1400" dirty="0"/>
          </a:p>
        </p:txBody>
      </p:sp>
      <p:sp>
        <p:nvSpPr>
          <p:cNvPr id="15" name="Shape 10"/>
          <p:cNvSpPr/>
          <p:nvPr/>
        </p:nvSpPr>
        <p:spPr>
          <a:xfrm>
            <a:off x="457200" y="2926080"/>
            <a:ext cx="594360" cy="59436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608076" y="3076956"/>
            <a:ext cx="292608" cy="292608"/>
          </a:xfrm>
          <a:prstGeom prst="rect">
            <a:avLst/>
          </a:prstGeom>
        </p:spPr>
      </p:pic>
      <p:sp>
        <p:nvSpPr>
          <p:cNvPr id="17" name="Text 11"/>
          <p:cNvSpPr txBox="1"/>
          <p:nvPr/>
        </p:nvSpPr>
        <p:spPr>
          <a:xfrm>
            <a:off x="1234440" y="292608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Season wheel</a:t>
            </a:r>
            <a:endParaRPr lang="en-US" sz="1600" dirty="0"/>
          </a:p>
        </p:txBody>
      </p:sp>
      <p:sp>
        <p:nvSpPr>
          <p:cNvPr id="18" name="Text 12"/>
          <p:cNvSpPr txBox="1"/>
          <p:nvPr/>
        </p:nvSpPr>
        <p:spPr>
          <a:xfrm>
            <a:off x="457200" y="3657600"/>
            <a:ext cx="2606040" cy="685800"/>
          </a:xfrm>
          <a:prstGeom prst="rect">
            <a:avLst/>
          </a:prstGeom>
          <a:noFill/>
          <a:ln/>
        </p:spPr>
        <p:txBody>
          <a:bodyPr wrap="square" lIns="0" tIns="0" rIns="0" bIns="0" rtlCol="0" anchor="t"/>
          <a:lstStyle/>
          <a:p>
            <a:pPr indent="0" marL="0">
              <a:buNone/>
            </a:pPr>
            <a:r>
              <a:rPr lang="en-US" sz="1400" dirty="0">
                <a:solidFill>
                  <a:schemeClr val="tx2"/>
                </a:solidFill>
              </a:rPr>
              <a:t>When seasons A, B and C fall</a:t>
            </a:r>
            <a:endParaRPr lang="en-US" sz="1400" dirty="0"/>
          </a:p>
        </p:txBody>
      </p:sp>
      <p:sp>
        <p:nvSpPr>
          <p:cNvPr id="19" name="Shape 13"/>
          <p:cNvSpPr/>
          <p:nvPr/>
        </p:nvSpPr>
        <p:spPr>
          <a:xfrm>
            <a:off x="3246120" y="2926080"/>
            <a:ext cx="594360" cy="594360"/>
          </a:xfrm>
          <a:prstGeom prst="ellipse">
            <a:avLst/>
          </a:prstGeom>
          <a:solidFill>
            <a:schemeClr val="accent2"/>
          </a:solidFill>
          <a:ln w="12700">
            <a:solidFill>
              <a:schemeClr val="accent2"/>
            </a:solidFill>
            <a:prstDash val="solid"/>
          </a:ln>
        </p:spPr>
      </p:sp>
      <p:pic>
        <p:nvPicPr>
          <p:cNvPr id="20" name="Image 4" descr="preencoded.png">    </p:cNvPr>
          <p:cNvPicPr>
            <a:picLocks noChangeAspect="1"/>
          </p:cNvPicPr>
          <p:nvPr/>
        </p:nvPicPr>
        <p:blipFill>
          <a:blip r:embed="rId5"/>
          <a:stretch>
            <a:fillRect/>
          </a:stretch>
        </p:blipFill>
        <p:spPr>
          <a:xfrm>
            <a:off x="3396996" y="3076956"/>
            <a:ext cx="292608" cy="292608"/>
          </a:xfrm>
          <a:prstGeom prst="rect">
            <a:avLst/>
          </a:prstGeom>
        </p:spPr>
      </p:pic>
      <p:sp>
        <p:nvSpPr>
          <p:cNvPr id="21" name="Text 14"/>
          <p:cNvSpPr txBox="1"/>
          <p:nvPr/>
        </p:nvSpPr>
        <p:spPr>
          <a:xfrm>
            <a:off x="4023360" y="292608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Narration</a:t>
            </a:r>
            <a:endParaRPr lang="en-US" sz="1600" dirty="0"/>
          </a:p>
        </p:txBody>
      </p:sp>
      <p:sp>
        <p:nvSpPr>
          <p:cNvPr id="22" name="Text 15"/>
          <p:cNvSpPr txBox="1"/>
          <p:nvPr/>
        </p:nvSpPr>
        <p:spPr>
          <a:xfrm>
            <a:off x="3246120" y="3657600"/>
            <a:ext cx="2606040" cy="685800"/>
          </a:xfrm>
          <a:prstGeom prst="rect">
            <a:avLst/>
          </a:prstGeom>
          <a:noFill/>
          <a:ln/>
        </p:spPr>
        <p:txBody>
          <a:bodyPr wrap="square" lIns="0" tIns="0" rIns="0" bIns="0" rtlCol="0" anchor="t"/>
          <a:lstStyle/>
          <a:p>
            <a:pPr indent="0" marL="0">
              <a:buNone/>
            </a:pPr>
            <a:r>
              <a:rPr lang="en-US" sz="1400" dirty="0">
                <a:solidFill>
                  <a:schemeClr val="tx2"/>
                </a:solidFill>
              </a:rPr>
              <a:t>Every section read aloud</a:t>
            </a:r>
            <a:endParaRPr lang="en-US" sz="1400" dirty="0"/>
          </a:p>
        </p:txBody>
      </p:sp>
      <p:sp>
        <p:nvSpPr>
          <p:cNvPr id="23" name="Shape 16"/>
          <p:cNvSpPr/>
          <p:nvPr/>
        </p:nvSpPr>
        <p:spPr>
          <a:xfrm>
            <a:off x="6035040" y="2926080"/>
            <a:ext cx="594360" cy="594360"/>
          </a:xfrm>
          <a:prstGeom prst="ellipse">
            <a:avLst/>
          </a:prstGeom>
          <a:solidFill>
            <a:schemeClr val="accent3"/>
          </a:solidFill>
          <a:ln w="12700">
            <a:solidFill>
              <a:schemeClr val="accent3"/>
            </a:solidFill>
            <a:prstDash val="solid"/>
          </a:ln>
        </p:spPr>
      </p:sp>
      <p:pic>
        <p:nvPicPr>
          <p:cNvPr id="24" name="Image 5" descr="preencoded.png">    </p:cNvPr>
          <p:cNvPicPr>
            <a:picLocks noChangeAspect="1"/>
          </p:cNvPicPr>
          <p:nvPr/>
        </p:nvPicPr>
        <p:blipFill>
          <a:blip r:embed="rId6"/>
          <a:stretch>
            <a:fillRect/>
          </a:stretch>
        </p:blipFill>
        <p:spPr>
          <a:xfrm>
            <a:off x="6185916" y="3076956"/>
            <a:ext cx="292608" cy="292608"/>
          </a:xfrm>
          <a:prstGeom prst="rect">
            <a:avLst/>
          </a:prstGeom>
        </p:spPr>
      </p:pic>
      <p:sp>
        <p:nvSpPr>
          <p:cNvPr id="25" name="Text 17"/>
          <p:cNvSpPr txBox="1"/>
          <p:nvPr/>
        </p:nvSpPr>
        <p:spPr>
          <a:xfrm>
            <a:off x="6812280" y="2926080"/>
            <a:ext cx="1874520" cy="594360"/>
          </a:xfrm>
          <a:prstGeom prst="rect">
            <a:avLst/>
          </a:prstGeom>
          <a:noFill/>
          <a:ln/>
        </p:spPr>
        <p:txBody>
          <a:bodyPr wrap="square" lIns="0" tIns="0" rIns="0" bIns="0" rtlCol="0" anchor="ctr"/>
          <a:lstStyle/>
          <a:p>
            <a:pPr indent="0" marL="0">
              <a:buNone/>
            </a:pPr>
            <a:r>
              <a:rPr lang="en-US" sz="1600" b="1" dirty="0">
                <a:solidFill>
                  <a:schemeClr val="tx1"/>
                </a:solidFill>
              </a:rPr>
              <a:t>AI assistant</a:t>
            </a:r>
            <a:endParaRPr lang="en-US" sz="1600" dirty="0"/>
          </a:p>
        </p:txBody>
      </p:sp>
      <p:sp>
        <p:nvSpPr>
          <p:cNvPr id="26" name="Text 18"/>
          <p:cNvSpPr txBox="1"/>
          <p:nvPr/>
        </p:nvSpPr>
        <p:spPr>
          <a:xfrm>
            <a:off x="6035040" y="3657600"/>
            <a:ext cx="2606040" cy="685800"/>
          </a:xfrm>
          <a:prstGeom prst="rect">
            <a:avLst/>
          </a:prstGeom>
          <a:noFill/>
          <a:ln/>
        </p:spPr>
        <p:txBody>
          <a:bodyPr wrap="square" lIns="0" tIns="0" rIns="0" bIns="0" rtlCol="0" anchor="t"/>
          <a:lstStyle/>
          <a:p>
            <a:pPr indent="0" marL="0">
              <a:buNone/>
            </a:pPr>
            <a:r>
              <a:rPr lang="en-US" sz="1400" dirty="0">
                <a:solidFill>
                  <a:schemeClr val="tx2"/>
                </a:solidFill>
              </a:rPr>
              <a:t>Answers only from report figures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5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852160" cy="1737360"/>
          </a:xfrm>
          <a:prstGeom prst="rect">
            <a:avLst/>
          </a:prstGeom>
          <a:noFill/>
          <a:ln/>
        </p:spPr>
        <p:txBody>
          <a:bodyPr wrap="square" lIns="0" tIns="0" rIns="0" bIns="0" rtlCol="0" anchor="b"/>
          <a:lstStyle/>
          <a:p>
            <a:pPr algn="l" indent="0" marL="0">
              <a:buNone/>
            </a:pPr>
            <a:r>
              <a:rPr lang="en-US" sz="4800" b="1" dirty="0">
                <a:solidFill>
                  <a:schemeClr val="bg1"/>
                </a:solidFill>
              </a:rPr>
              <a:t>Smallholders already feed their soil</a:t>
            </a:r>
            <a:endParaRPr lang="en-US" sz="4800" dirty="0"/>
          </a:p>
        </p:txBody>
      </p:sp>
      <p:sp>
        <p:nvSpPr>
          <p:cNvPr id="3" name="Text 0"/>
          <p:cNvSpPr/>
          <p:nvPr>
            <p:ph idx="101" type="body" hasCustomPrompt="1"/>
          </p:nvPr>
        </p:nvSpPr>
        <p:spPr>
          <a:xfrm>
            <a:off x="548640" y="3017520"/>
            <a:ext cx="5852160" cy="1097280"/>
          </a:xfrm>
          <a:prstGeom prst="rect">
            <a:avLst/>
          </a:prstGeom>
          <a:noFill/>
          <a:ln/>
        </p:spPr>
        <p:txBody>
          <a:bodyPr wrap="square" lIns="0" tIns="0" rIns="0" bIns="0" rtlCol="0" anchor="t"/>
          <a:lstStyle/>
          <a:p>
            <a:pPr indent="0" marL="0">
              <a:buNone/>
            </a:pPr>
            <a:r>
              <a:rPr lang="en-US" sz="1800" dirty="0">
                <a:solidFill>
                  <a:schemeClr val="bg2"/>
                </a:solidFill>
              </a:rPr>
              <a:t>Getting improved seed and fertilizer into their hands is where the biggest gap in the 2025 data lies.</a:t>
            </a:r>
            <a:endParaRPr lang="en-US" sz="1800" dirty="0"/>
          </a:p>
          <a:p>
            <a:pPr indent="0" marL="0">
              <a:buNone/>
            </a:pPr>
            <a:r>
              <a:rPr lang="en-US" sz="1000" dirty="0">
                <a:solidFill>
                  <a:schemeClr val="bg2"/>
                </a:solidFill>
              </a:rPr>
              <a:t> </a:t>
            </a:r>
            <a:endParaRPr lang="en-US" sz="1800" dirty="0"/>
          </a:p>
          <a:p>
            <a:pPr indent="0" marL="0">
              <a:buNone/>
            </a:pPr>
            <a:r>
              <a:rPr lang="en-US" sz="2000" b="1" dirty="0">
                <a:solidFill>
                  <a:schemeClr val="bg2"/>
                </a:solidFill>
              </a:rPr>
              <a:t>Thank you. Murakoze. Merci.</a:t>
            </a:r>
            <a:endParaRPr lang="en-US" sz="1800" dirty="0"/>
          </a:p>
        </p:txBody>
      </p:sp>
      <p:sp>
        <p:nvSpPr>
          <p:cNvPr id="4" name="Shape 2"/>
          <p:cNvSpPr/>
          <p:nvPr/>
        </p:nvSpPr>
        <p:spPr>
          <a:xfrm>
            <a:off x="6675120" y="1325880"/>
            <a:ext cx="2011680" cy="2011680"/>
          </a:xfrm>
          <a:prstGeom prst="rect">
            <a:avLst/>
          </a:prstGeom>
          <a:solidFill>
            <a:schemeClr val="bg1"/>
          </a:solidFill>
          <a:ln w="12700">
            <a:solidFill>
              <a:schemeClr val="bg1"/>
            </a:solidFill>
            <a:prstDash val="solid"/>
          </a:ln>
        </p:spPr>
      </p:sp>
      <p:pic>
        <p:nvPicPr>
          <p:cNvPr id="5" name="Image 0" descr="QR code to the interactive infographic">    </p:cNvPr>
          <p:cNvPicPr>
            <a:picLocks noChangeAspect="1"/>
          </p:cNvPicPr>
          <p:nvPr/>
        </p:nvPicPr>
        <p:blipFill>
          <a:blip r:embed="rId1"/>
          <a:stretch>
            <a:fillRect/>
          </a:stretch>
        </p:blipFill>
        <p:spPr>
          <a:xfrm>
            <a:off x="6766560" y="1417320"/>
            <a:ext cx="1828800" cy="1828800"/>
          </a:xfrm>
          <a:prstGeom prst="rect">
            <a:avLst/>
          </a:prstGeom>
        </p:spPr>
      </p:pic>
      <p:sp>
        <p:nvSpPr>
          <p:cNvPr id="6" name="Text 3"/>
          <p:cNvSpPr txBox="1"/>
          <p:nvPr/>
        </p:nvSpPr>
        <p:spPr>
          <a:xfrm>
            <a:off x="6400800" y="3474720"/>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Explore it yourself</a:t>
            </a:r>
            <a:endParaRPr lang="en-US" sz="1400" dirty="0"/>
          </a:p>
        </p:txBody>
      </p:sp>
      <p:sp>
        <p:nvSpPr>
          <p:cNvPr id="7" name="Text 4"/>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000" dirty="0">
                <a:solidFill>
                  <a:schemeClr val="bg2"/>
                </a:solidFill>
              </a:rPr>
              <a:t>Source: NISR, Seasonal Agricultural Survey Annual Report 2025</a:t>
            </a:r>
            <a:endParaRPr lang="en-US" sz="1000" dirty="0"/>
          </a:p>
        </p:txBody>
      </p:sp>
    </p:spTree>
  </p:cSld>
  <p:clrMapOvr>
    <a:masterClrMapping/>
  </p:clrMapOvr>
</p:sld>
</file>

<file path=ppt/theme/theme1.xml><?xml version="1.0" encoding="utf-8"?>
<a:theme xmlns:a="http://schemas.openxmlformats.org/drawingml/2006/main" name="Two Farms">
  <a:themeElements>
    <a:clrScheme name="Two Farms">
      <a:dk1>
        <a:srgbClr val="14302A"/>
      </a:dk1>
      <a:lt1>
        <a:srgbClr val="FFFFFF"/>
      </a:lt1>
      <a:dk2>
        <a:srgbClr val="2E4038"/>
      </a:dk2>
      <a:lt2>
        <a:srgbClr val="EEF2EB"/>
      </a:lt2>
      <a:accent1>
        <a:srgbClr val="1F5A43"/>
      </a:accent1>
      <a:accent2>
        <a:srgbClr val="E0A126"/>
      </a:accent2>
      <a:accent3>
        <a:srgbClr val="A2401F"/>
      </a:accent3>
      <a:accent4>
        <a:srgbClr val="56665E"/>
      </a:accent4>
      <a:accent5>
        <a:srgbClr val="8C9A91"/>
      </a:accent5>
      <a:accent6>
        <a:srgbClr val="C9D3CA"/>
      </a:accent6>
      <a:hlink>
        <a:srgbClr val="1F5A43"/>
      </a:hlink>
      <a:folHlink>
        <a:srgbClr val="56665E"/>
      </a:folHlink>
    </a:clrScheme>
    <a:fontScheme name="Two Farm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INES-Ruhengeri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farms, one harvest</dc:title>
  <dc:subject>PptxGenJS Presentation</dc:subject>
  <dc:creator>Team Devotha-Kevine</dc:creator>
  <cp:lastModifiedBy>Team Devotha-Kevine</cp:lastModifiedBy>
  <cp:revision>1</cp:revision>
  <dcterms:created xsi:type="dcterms:W3CDTF">2026-10-03T14:07:06Z</dcterms:created>
  <dcterms:modified xsi:type="dcterms:W3CDTF">2026-10-03T14:07:06Z</dcterms:modified>
</cp:coreProperties>
</file>